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Prata"/>
      <p:regular r:id="rId27"/>
    </p:embeddedFont>
    <p:embeddedFont>
      <p:font typeface="Raleway"/>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Raleway-regular.fntdata"/><Relationship Id="rId27" Type="http://schemas.openxmlformats.org/officeDocument/2006/relationships/font" Target="fonts/Prata-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Raleway-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aleway-boldItalic.fntdata"/><Relationship Id="rId30" Type="http://schemas.openxmlformats.org/officeDocument/2006/relationships/font" Target="fonts/Raleway-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c2dc7f9da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dc2dc7f9da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dc2dc7f9da_2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3dc2dc7f9da_2_8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dc2dc7f9d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3dc2dc7f9da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dc2dc7f9da_2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g3dc2dc7f9da_2_9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dc2dc7f9d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g3dc2dc7f9da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dc2dc7f9da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g3dc2dc7f9da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dc2dc7f9da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dc2dc7f9da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dc2dc7f9da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g3dc2dc7f9da_0_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dc2dc7f9da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3dc2dc7f9da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dc2dc7f9da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3dc2dc7f9da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dc2dc7f9da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g3dc2dc7f9da_0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dc2dc7f9da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g3dc2dc7f9da_0_1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dc2dc7f9da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g3dc2dc7f9da_0_1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dc2dc7f9da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g3dc2dc7f9da_0_1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dc2dc7f9da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g3dc2dc7f9da_0_1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dc2dc7f9da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g3dc2dc7f9da_0_1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dc2dc7f9da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g3dc2dc7f9da_0_1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dc2dc7f9da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g3dc2dc7f9da_0_1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dc2dc7f9da_2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g3dc2dc7f9da_2_1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dc2dc7f9da_2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g3dc2dc7f9da_2_18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9.jpg"/><Relationship Id="rId4" Type="http://schemas.openxmlformats.org/officeDocument/2006/relationships/image" Target="../media/image2.jpg"/><Relationship Id="rId5" Type="http://schemas.openxmlformats.org/officeDocument/2006/relationships/image" Target="../media/image18.jpg"/><Relationship Id="rId6" Type="http://schemas.openxmlformats.org/officeDocument/2006/relationships/hyperlink" Target="https://www.kaggle.com/datasets/kuntalmaity/house-price/data"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8.png"/><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29.png"/><Relationship Id="rId6" Type="http://schemas.openxmlformats.org/officeDocument/2006/relationships/image" Target="../media/image15.png"/><Relationship Id="rId7" Type="http://schemas.openxmlformats.org/officeDocument/2006/relationships/image" Target="../media/image17.png"/><Relationship Id="rId8"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32.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30.png"/><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35.png"/><Relationship Id="rId4" Type="http://schemas.openxmlformats.org/officeDocument/2006/relationships/image" Target="../media/image31.png"/><Relationship Id="rId5"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33.jpg"/><Relationship Id="rId4" Type="http://schemas.openxmlformats.org/officeDocument/2006/relationships/image" Target="../media/image3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D7CD"/>
        </a:solidFill>
      </p:bgPr>
    </p:bg>
    <p:spTree>
      <p:nvGrpSpPr>
        <p:cNvPr id="128" name="Shape 128"/>
        <p:cNvGrpSpPr/>
        <p:nvPr/>
      </p:nvGrpSpPr>
      <p:grpSpPr>
        <a:xfrm>
          <a:off x="0" y="0"/>
          <a:ext cx="0" cy="0"/>
          <a:chOff x="0" y="0"/>
          <a:chExt cx="0" cy="0"/>
        </a:xfrm>
      </p:grpSpPr>
      <p:sp>
        <p:nvSpPr>
          <p:cNvPr id="129" name="Google Shape;129;p25"/>
          <p:cNvSpPr txBox="1"/>
          <p:nvPr/>
        </p:nvSpPr>
        <p:spPr>
          <a:xfrm>
            <a:off x="1388277" y="1832185"/>
            <a:ext cx="6367500" cy="1754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5700">
                <a:solidFill>
                  <a:srgbClr val="344E41"/>
                </a:solidFill>
                <a:latin typeface="Prata"/>
                <a:ea typeface="Prata"/>
                <a:cs typeface="Prata"/>
                <a:sym typeface="Prata"/>
              </a:rPr>
              <a:t>Housing Price</a:t>
            </a:r>
            <a:endParaRPr sz="5700">
              <a:solidFill>
                <a:srgbClr val="344E41"/>
              </a:solidFill>
              <a:latin typeface="Prata"/>
              <a:ea typeface="Prata"/>
              <a:cs typeface="Prata"/>
              <a:sym typeface="Prata"/>
            </a:endParaRPr>
          </a:p>
          <a:p>
            <a:pPr indent="0" lvl="0" marL="0" marR="0" rtl="0" algn="ctr">
              <a:lnSpc>
                <a:spcPct val="100000"/>
              </a:lnSpc>
              <a:spcBef>
                <a:spcPts val="0"/>
              </a:spcBef>
              <a:spcAft>
                <a:spcPts val="0"/>
              </a:spcAft>
              <a:buNone/>
            </a:pPr>
            <a:r>
              <a:rPr lang="en" sz="5700">
                <a:solidFill>
                  <a:srgbClr val="344E41"/>
                </a:solidFill>
                <a:latin typeface="Prata"/>
                <a:ea typeface="Prata"/>
                <a:cs typeface="Prata"/>
                <a:sym typeface="Prata"/>
              </a:rPr>
              <a:t>Prediction</a:t>
            </a:r>
            <a:endParaRPr sz="5700">
              <a:solidFill>
                <a:srgbClr val="344E41"/>
              </a:solidFill>
              <a:latin typeface="Prata"/>
              <a:ea typeface="Prata"/>
              <a:cs typeface="Prata"/>
              <a:sym typeface="Prata"/>
            </a:endParaRPr>
          </a:p>
        </p:txBody>
      </p:sp>
      <p:sp>
        <p:nvSpPr>
          <p:cNvPr id="130" name="Google Shape;130;p25"/>
          <p:cNvSpPr/>
          <p:nvPr/>
        </p:nvSpPr>
        <p:spPr>
          <a:xfrm>
            <a:off x="0" y="4629150"/>
            <a:ext cx="9144000" cy="514350"/>
          </a:xfrm>
          <a:custGeom>
            <a:rect b="b" l="l" r="r" t="t"/>
            <a:pathLst>
              <a:path extrusionOk="0" h="695960" w="12372622">
                <a:moveTo>
                  <a:pt x="0" y="0"/>
                </a:moveTo>
                <a:lnTo>
                  <a:pt x="12372622" y="0"/>
                </a:lnTo>
                <a:lnTo>
                  <a:pt x="12372622" y="695960"/>
                </a:lnTo>
                <a:lnTo>
                  <a:pt x="0" y="695960"/>
                </a:lnTo>
                <a:close/>
              </a:path>
            </a:pathLst>
          </a:custGeom>
          <a:solidFill>
            <a:srgbClr val="A3B18A"/>
          </a:solidFill>
          <a:ln>
            <a:noFill/>
          </a:ln>
        </p:spPr>
      </p:sp>
      <p:sp>
        <p:nvSpPr>
          <p:cNvPr id="131" name="Google Shape;131;p25"/>
          <p:cNvSpPr txBox="1"/>
          <p:nvPr/>
        </p:nvSpPr>
        <p:spPr>
          <a:xfrm>
            <a:off x="1388277" y="1199970"/>
            <a:ext cx="6367446" cy="436563"/>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2500" u="none" cap="none" strike="noStrike">
                <a:solidFill>
                  <a:srgbClr val="344E41"/>
                </a:solidFill>
                <a:latin typeface="Raleway"/>
                <a:ea typeface="Raleway"/>
                <a:cs typeface="Raleway"/>
                <a:sym typeface="Raleway"/>
              </a:rPr>
              <a:t>THE</a:t>
            </a:r>
            <a:endParaRPr sz="700"/>
          </a:p>
        </p:txBody>
      </p:sp>
      <p:sp>
        <p:nvSpPr>
          <p:cNvPr id="132" name="Google Shape;132;p25"/>
          <p:cNvSpPr txBox="1"/>
          <p:nvPr/>
        </p:nvSpPr>
        <p:spPr>
          <a:xfrm>
            <a:off x="3093555" y="4755429"/>
            <a:ext cx="2956800" cy="1848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lang="en" sz="1200">
                <a:solidFill>
                  <a:srgbClr val="344E41"/>
                </a:solidFill>
                <a:latin typeface="Raleway"/>
                <a:ea typeface="Raleway"/>
                <a:cs typeface="Raleway"/>
                <a:sym typeface="Raleway"/>
              </a:rPr>
              <a:t>Jennifer Tran</a:t>
            </a:r>
            <a:endParaRPr sz="700"/>
          </a:p>
        </p:txBody>
      </p:sp>
      <p:sp>
        <p:nvSpPr>
          <p:cNvPr id="133" name="Google Shape;133;p25"/>
          <p:cNvSpPr txBox="1"/>
          <p:nvPr/>
        </p:nvSpPr>
        <p:spPr>
          <a:xfrm>
            <a:off x="7045968" y="4755429"/>
            <a:ext cx="1583700" cy="18480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lang="en" sz="1200">
                <a:solidFill>
                  <a:srgbClr val="344E41"/>
                </a:solidFill>
                <a:latin typeface="Raleway"/>
                <a:ea typeface="Raleway"/>
                <a:cs typeface="Raleway"/>
                <a:sym typeface="Raleway"/>
              </a:rPr>
              <a:t>Machine Learning</a:t>
            </a:r>
            <a:endParaRPr sz="700"/>
          </a:p>
        </p:txBody>
      </p:sp>
      <p:sp>
        <p:nvSpPr>
          <p:cNvPr id="134" name="Google Shape;134;p25"/>
          <p:cNvSpPr txBox="1"/>
          <p:nvPr/>
        </p:nvSpPr>
        <p:spPr>
          <a:xfrm>
            <a:off x="514350" y="4755429"/>
            <a:ext cx="1478400" cy="1848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 sz="1200" u="none" cap="none" strike="noStrike">
                <a:solidFill>
                  <a:srgbClr val="344E41"/>
                </a:solidFill>
                <a:latin typeface="Raleway"/>
                <a:ea typeface="Raleway"/>
                <a:cs typeface="Raleway"/>
                <a:sym typeface="Raleway"/>
              </a:rPr>
              <a:t>2026 </a:t>
            </a:r>
            <a:r>
              <a:rPr lang="en" sz="1200">
                <a:solidFill>
                  <a:srgbClr val="344E41"/>
                </a:solidFill>
                <a:latin typeface="Raleway"/>
                <a:ea typeface="Raleway"/>
                <a:cs typeface="Raleway"/>
                <a:sym typeface="Raleway"/>
              </a:rPr>
              <a:t>May 6</a:t>
            </a:r>
            <a:endParaRPr sz="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D7CD"/>
        </a:solidFill>
      </p:bgPr>
    </p:bg>
    <p:spTree>
      <p:nvGrpSpPr>
        <p:cNvPr id="138" name="Shape 138"/>
        <p:cNvGrpSpPr/>
        <p:nvPr/>
      </p:nvGrpSpPr>
      <p:grpSpPr>
        <a:xfrm>
          <a:off x="0" y="0"/>
          <a:ext cx="0" cy="0"/>
          <a:chOff x="0" y="0"/>
          <a:chExt cx="0" cy="0"/>
        </a:xfrm>
      </p:grpSpPr>
      <p:sp>
        <p:nvSpPr>
          <p:cNvPr id="139" name="Google Shape;139;p26"/>
          <p:cNvSpPr/>
          <p:nvPr/>
        </p:nvSpPr>
        <p:spPr>
          <a:xfrm>
            <a:off x="0" y="4629150"/>
            <a:ext cx="9144000" cy="514350"/>
          </a:xfrm>
          <a:custGeom>
            <a:rect b="b" l="l" r="r" t="t"/>
            <a:pathLst>
              <a:path extrusionOk="0" h="695960" w="12372622">
                <a:moveTo>
                  <a:pt x="0" y="0"/>
                </a:moveTo>
                <a:lnTo>
                  <a:pt x="12372622" y="0"/>
                </a:lnTo>
                <a:lnTo>
                  <a:pt x="12372622" y="695960"/>
                </a:lnTo>
                <a:lnTo>
                  <a:pt x="0" y="695960"/>
                </a:lnTo>
                <a:close/>
              </a:path>
            </a:pathLst>
          </a:custGeom>
          <a:solidFill>
            <a:srgbClr val="A3B18A"/>
          </a:solidFill>
          <a:ln>
            <a:noFill/>
          </a:ln>
        </p:spPr>
      </p:sp>
      <p:sp>
        <p:nvSpPr>
          <p:cNvPr id="140" name="Google Shape;140;p26"/>
          <p:cNvSpPr txBox="1"/>
          <p:nvPr/>
        </p:nvSpPr>
        <p:spPr>
          <a:xfrm>
            <a:off x="7045968" y="4755429"/>
            <a:ext cx="1583682" cy="207645"/>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b="0" i="0" lang="en" sz="1200" u="none" cap="none" strike="noStrike">
                <a:solidFill>
                  <a:srgbClr val="344E41"/>
                </a:solidFill>
                <a:latin typeface="Raleway"/>
                <a:ea typeface="Raleway"/>
                <a:cs typeface="Raleway"/>
                <a:sym typeface="Raleway"/>
              </a:rPr>
              <a:t>2</a:t>
            </a:r>
            <a:endParaRPr sz="700"/>
          </a:p>
        </p:txBody>
      </p:sp>
      <p:sp>
        <p:nvSpPr>
          <p:cNvPr id="141" name="Google Shape;141;p26"/>
          <p:cNvSpPr txBox="1"/>
          <p:nvPr/>
        </p:nvSpPr>
        <p:spPr>
          <a:xfrm>
            <a:off x="503400" y="488675"/>
            <a:ext cx="21597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None/>
            </a:pPr>
            <a:r>
              <a:rPr lang="en" sz="2400">
                <a:solidFill>
                  <a:srgbClr val="344E41"/>
                </a:solidFill>
                <a:latin typeface="Prata"/>
                <a:ea typeface="Prata"/>
                <a:cs typeface="Prata"/>
                <a:sym typeface="Prata"/>
              </a:rPr>
              <a:t>The Problem</a:t>
            </a:r>
            <a:endParaRPr sz="700"/>
          </a:p>
        </p:txBody>
      </p:sp>
      <p:sp>
        <p:nvSpPr>
          <p:cNvPr id="142" name="Google Shape;142;p26"/>
          <p:cNvSpPr txBox="1"/>
          <p:nvPr/>
        </p:nvSpPr>
        <p:spPr>
          <a:xfrm>
            <a:off x="503400" y="999350"/>
            <a:ext cx="8126400" cy="15084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lang="en">
                <a:solidFill>
                  <a:srgbClr val="344E41"/>
                </a:solidFill>
                <a:latin typeface="Raleway"/>
                <a:ea typeface="Raleway"/>
                <a:cs typeface="Raleway"/>
                <a:sym typeface="Raleway"/>
              </a:rPr>
              <a:t>The housing price </a:t>
            </a:r>
            <a:r>
              <a:rPr lang="en">
                <a:solidFill>
                  <a:srgbClr val="344E41"/>
                </a:solidFill>
                <a:latin typeface="Raleway"/>
                <a:ea typeface="Raleway"/>
                <a:cs typeface="Raleway"/>
                <a:sym typeface="Raleway"/>
              </a:rPr>
              <a:t>prediction</a:t>
            </a:r>
            <a:r>
              <a:rPr lang="en">
                <a:solidFill>
                  <a:srgbClr val="344E41"/>
                </a:solidFill>
                <a:latin typeface="Raleway"/>
                <a:ea typeface="Raleway"/>
                <a:cs typeface="Raleway"/>
                <a:sym typeface="Raleway"/>
              </a:rPr>
              <a:t> dataset I’ve chosen is used to predict the prices of houses in Kolkata. By predicting the prices, I’ll be able to learn about the regression of house prices based on features like location, sq ft, and price of each sq ft. The learning models I’ll be using is KNN, linear regression, Random Forest, XGBoost, and </a:t>
            </a:r>
            <a:r>
              <a:rPr lang="en">
                <a:solidFill>
                  <a:srgbClr val="344E41"/>
                </a:solidFill>
                <a:latin typeface="Raleway"/>
                <a:ea typeface="Raleway"/>
                <a:cs typeface="Raleway"/>
                <a:sym typeface="Raleway"/>
              </a:rPr>
              <a:t>neural</a:t>
            </a:r>
            <a:r>
              <a:rPr lang="en">
                <a:solidFill>
                  <a:srgbClr val="344E41"/>
                </a:solidFill>
                <a:latin typeface="Raleway"/>
                <a:ea typeface="Raleway"/>
                <a:cs typeface="Raleway"/>
                <a:sym typeface="Raleway"/>
              </a:rPr>
              <a:t> network to find what model is best suited for </a:t>
            </a:r>
            <a:r>
              <a:rPr lang="en">
                <a:solidFill>
                  <a:srgbClr val="344E41"/>
                </a:solidFill>
                <a:latin typeface="Raleway"/>
                <a:ea typeface="Raleway"/>
                <a:cs typeface="Raleway"/>
                <a:sym typeface="Raleway"/>
              </a:rPr>
              <a:t>this housing prediction.</a:t>
            </a:r>
            <a:endParaRPr/>
          </a:p>
        </p:txBody>
      </p:sp>
      <p:pic>
        <p:nvPicPr>
          <p:cNvPr descr="English houses (Provided by Getty Images)" id="143" name="Google Shape;143;p26"/>
          <p:cNvPicPr preferRelativeResize="0"/>
          <p:nvPr/>
        </p:nvPicPr>
        <p:blipFill>
          <a:blip r:embed="rId3">
            <a:alphaModFix/>
          </a:blip>
          <a:stretch>
            <a:fillRect/>
          </a:stretch>
        </p:blipFill>
        <p:spPr>
          <a:xfrm>
            <a:off x="3273900" y="2571750"/>
            <a:ext cx="2585405" cy="1816601"/>
          </a:xfrm>
          <a:prstGeom prst="rect">
            <a:avLst/>
          </a:prstGeom>
          <a:noFill/>
          <a:ln>
            <a:noFill/>
          </a:ln>
        </p:spPr>
      </p:pic>
      <p:pic>
        <p:nvPicPr>
          <p:cNvPr descr="Houses in the City of London (Provided by Getty Images)" id="144" name="Google Shape;144;p26"/>
          <p:cNvPicPr preferRelativeResize="0"/>
          <p:nvPr/>
        </p:nvPicPr>
        <p:blipFill>
          <a:blip r:embed="rId4">
            <a:alphaModFix/>
          </a:blip>
          <a:stretch>
            <a:fillRect/>
          </a:stretch>
        </p:blipFill>
        <p:spPr>
          <a:xfrm>
            <a:off x="6050450" y="2571750"/>
            <a:ext cx="1137123" cy="1816602"/>
          </a:xfrm>
          <a:prstGeom prst="rect">
            <a:avLst/>
          </a:prstGeom>
          <a:noFill/>
          <a:ln>
            <a:noFill/>
          </a:ln>
        </p:spPr>
      </p:pic>
      <p:pic>
        <p:nvPicPr>
          <p:cNvPr descr="Kathmandu, Nepal (Provided by Getty Images)" id="145" name="Google Shape;145;p26"/>
          <p:cNvPicPr preferRelativeResize="0"/>
          <p:nvPr/>
        </p:nvPicPr>
        <p:blipFill>
          <a:blip r:embed="rId5">
            <a:alphaModFix/>
          </a:blip>
          <a:stretch>
            <a:fillRect/>
          </a:stretch>
        </p:blipFill>
        <p:spPr>
          <a:xfrm>
            <a:off x="7378725" y="2571750"/>
            <a:ext cx="1210775" cy="1816602"/>
          </a:xfrm>
          <a:prstGeom prst="rect">
            <a:avLst/>
          </a:prstGeom>
          <a:noFill/>
          <a:ln>
            <a:noFill/>
          </a:ln>
        </p:spPr>
      </p:pic>
      <p:sp>
        <p:nvSpPr>
          <p:cNvPr id="146" name="Google Shape;146;p26"/>
          <p:cNvSpPr txBox="1"/>
          <p:nvPr/>
        </p:nvSpPr>
        <p:spPr>
          <a:xfrm>
            <a:off x="108550" y="2649125"/>
            <a:ext cx="2974200" cy="15393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lang="en" sz="1000">
                <a:solidFill>
                  <a:srgbClr val="344E41"/>
                </a:solidFill>
                <a:latin typeface="Raleway"/>
                <a:ea typeface="Raleway"/>
                <a:cs typeface="Raleway"/>
                <a:sym typeface="Raleway"/>
              </a:rPr>
              <a:t>The Dataset:  </a:t>
            </a:r>
            <a:endParaRPr sz="1000">
              <a:solidFill>
                <a:srgbClr val="344E41"/>
              </a:solidFill>
              <a:latin typeface="Raleway"/>
              <a:ea typeface="Raleway"/>
              <a:cs typeface="Raleway"/>
              <a:sym typeface="Raleway"/>
            </a:endParaRPr>
          </a:p>
          <a:p>
            <a:pPr indent="0" lvl="0" marL="0" marR="0" rtl="0" algn="just">
              <a:lnSpc>
                <a:spcPct val="150000"/>
              </a:lnSpc>
              <a:spcBef>
                <a:spcPts val="0"/>
              </a:spcBef>
              <a:spcAft>
                <a:spcPts val="0"/>
              </a:spcAft>
              <a:buNone/>
            </a:pPr>
            <a:r>
              <a:rPr lang="en" sz="1000">
                <a:solidFill>
                  <a:schemeClr val="dk1"/>
                </a:solidFill>
                <a:uFill>
                  <a:noFill/>
                </a:uFill>
                <a:latin typeface="Raleway"/>
                <a:ea typeface="Raleway"/>
                <a:cs typeface="Raleway"/>
                <a:sym typeface="Raleway"/>
                <a:hlinkClick r:id="rId6">
                  <a:extLst>
                    <a:ext uri="{A12FA001-AC4F-418D-AE19-62706E023703}">
                      <ahyp:hlinkClr val="tx"/>
                    </a:ext>
                  </a:extLst>
                </a:hlinkClick>
              </a:rPr>
              <a:t>https://www.kaggle.com/datasets/kuntalmaity/house-price/data</a:t>
            </a:r>
            <a:endParaRPr sz="1000">
              <a:solidFill>
                <a:schemeClr val="dk1"/>
              </a:solidFill>
              <a:latin typeface="Raleway"/>
              <a:ea typeface="Raleway"/>
              <a:cs typeface="Raleway"/>
              <a:sym typeface="Raleway"/>
            </a:endParaRPr>
          </a:p>
          <a:p>
            <a:pPr indent="0" lvl="0" marL="0" rtl="0" algn="just">
              <a:lnSpc>
                <a:spcPct val="150000"/>
              </a:lnSpc>
              <a:spcBef>
                <a:spcPts val="0"/>
              </a:spcBef>
              <a:spcAft>
                <a:spcPts val="0"/>
              </a:spcAft>
              <a:buNone/>
            </a:pPr>
            <a:r>
              <a:rPr lang="en" sz="1000">
                <a:solidFill>
                  <a:srgbClr val="344E41"/>
                </a:solidFill>
                <a:latin typeface="Raleway"/>
                <a:ea typeface="Raleway"/>
                <a:cs typeface="Raleway"/>
                <a:sym typeface="Raleway"/>
              </a:rPr>
              <a:t>The Preprocessing Guide: </a:t>
            </a:r>
            <a:endParaRPr sz="1000">
              <a:solidFill>
                <a:srgbClr val="344E41"/>
              </a:solidFill>
              <a:latin typeface="Raleway"/>
              <a:ea typeface="Raleway"/>
              <a:cs typeface="Raleway"/>
              <a:sym typeface="Raleway"/>
            </a:endParaRPr>
          </a:p>
          <a:p>
            <a:pPr indent="0" lvl="0" marL="0" rtl="0" algn="just">
              <a:lnSpc>
                <a:spcPct val="150000"/>
              </a:lnSpc>
              <a:spcBef>
                <a:spcPts val="0"/>
              </a:spcBef>
              <a:spcAft>
                <a:spcPts val="0"/>
              </a:spcAft>
              <a:buClr>
                <a:schemeClr val="dk1"/>
              </a:buClr>
              <a:buFont typeface="Arial"/>
              <a:buNone/>
            </a:pPr>
            <a:r>
              <a:rPr lang="en" sz="1000">
                <a:solidFill>
                  <a:srgbClr val="344E41"/>
                </a:solidFill>
                <a:latin typeface="Raleway"/>
                <a:ea typeface="Raleway"/>
                <a:cs typeface="Raleway"/>
                <a:sym typeface="Raleway"/>
              </a:rPr>
              <a:t>:https://www.kaggle.com/code/nagendrareddy777/data-preprocessing</a:t>
            </a:r>
            <a:endParaRPr sz="1000">
              <a:solidFill>
                <a:srgbClr val="344E41"/>
              </a:solidFill>
              <a:latin typeface="Raleway"/>
              <a:ea typeface="Raleway"/>
              <a:cs typeface="Raleway"/>
              <a:sym typeface="Raleway"/>
            </a:endParaRPr>
          </a:p>
          <a:p>
            <a:pPr indent="0" lvl="0" marL="0" marR="0" rtl="0" algn="just">
              <a:lnSpc>
                <a:spcPct val="150000"/>
              </a:lnSpc>
              <a:spcBef>
                <a:spcPts val="0"/>
              </a:spcBef>
              <a:spcAft>
                <a:spcPts val="0"/>
              </a:spcAft>
              <a:buNone/>
            </a:pPr>
            <a:r>
              <a:t/>
            </a:r>
            <a:endParaRPr sz="1000">
              <a:solidFill>
                <a:srgbClr val="344E41"/>
              </a:solidFill>
              <a:latin typeface="Raleway"/>
              <a:ea typeface="Raleway"/>
              <a:cs typeface="Raleway"/>
              <a:sym typeface="Raleway"/>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D7CD"/>
        </a:solidFill>
      </p:bgPr>
    </p:bg>
    <p:spTree>
      <p:nvGrpSpPr>
        <p:cNvPr id="150" name="Shape 150"/>
        <p:cNvGrpSpPr/>
        <p:nvPr/>
      </p:nvGrpSpPr>
      <p:grpSpPr>
        <a:xfrm>
          <a:off x="0" y="0"/>
          <a:ext cx="0" cy="0"/>
          <a:chOff x="0" y="0"/>
          <a:chExt cx="0" cy="0"/>
        </a:xfrm>
      </p:grpSpPr>
      <p:sp>
        <p:nvSpPr>
          <p:cNvPr id="151" name="Google Shape;151;p27"/>
          <p:cNvSpPr/>
          <p:nvPr/>
        </p:nvSpPr>
        <p:spPr>
          <a:xfrm>
            <a:off x="0" y="4629150"/>
            <a:ext cx="9155740" cy="515010"/>
          </a:xfrm>
          <a:custGeom>
            <a:rect b="b" l="l" r="r" t="t"/>
            <a:pathLst>
              <a:path extrusionOk="0" h="695960" w="12372622">
                <a:moveTo>
                  <a:pt x="0" y="0"/>
                </a:moveTo>
                <a:lnTo>
                  <a:pt x="12372622" y="0"/>
                </a:lnTo>
                <a:lnTo>
                  <a:pt x="12372622" y="695960"/>
                </a:lnTo>
                <a:lnTo>
                  <a:pt x="0" y="695960"/>
                </a:lnTo>
                <a:close/>
              </a:path>
            </a:pathLst>
          </a:custGeom>
          <a:solidFill>
            <a:srgbClr val="A3B18A"/>
          </a:solidFill>
          <a:ln>
            <a:noFill/>
          </a:ln>
        </p:spPr>
      </p:sp>
      <p:sp>
        <p:nvSpPr>
          <p:cNvPr id="152" name="Google Shape;152;p27"/>
          <p:cNvSpPr txBox="1"/>
          <p:nvPr/>
        </p:nvSpPr>
        <p:spPr>
          <a:xfrm>
            <a:off x="7045968" y="4755429"/>
            <a:ext cx="1583700" cy="18480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b="0" i="0" lang="en" sz="1200" u="none" cap="none" strike="noStrike">
                <a:solidFill>
                  <a:srgbClr val="344E41"/>
                </a:solidFill>
                <a:latin typeface="Raleway"/>
                <a:ea typeface="Raleway"/>
                <a:cs typeface="Raleway"/>
                <a:sym typeface="Raleway"/>
              </a:rPr>
              <a:t>3</a:t>
            </a:r>
            <a:endParaRPr sz="700"/>
          </a:p>
        </p:txBody>
      </p:sp>
      <p:sp>
        <p:nvSpPr>
          <p:cNvPr id="153" name="Google Shape;153;p27"/>
          <p:cNvSpPr txBox="1"/>
          <p:nvPr/>
        </p:nvSpPr>
        <p:spPr>
          <a:xfrm>
            <a:off x="1839600" y="313250"/>
            <a:ext cx="5464800" cy="400200"/>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None/>
            </a:pPr>
            <a:r>
              <a:rPr lang="en" sz="2600">
                <a:solidFill>
                  <a:srgbClr val="344E41"/>
                </a:solidFill>
                <a:latin typeface="Prata"/>
                <a:ea typeface="Prata"/>
                <a:cs typeface="Prata"/>
                <a:sym typeface="Prata"/>
              </a:rPr>
              <a:t>Data Preprocessing Stage</a:t>
            </a:r>
            <a:endParaRPr sz="900"/>
          </a:p>
        </p:txBody>
      </p:sp>
      <p:sp>
        <p:nvSpPr>
          <p:cNvPr id="154" name="Google Shape;154;p27"/>
          <p:cNvSpPr txBox="1"/>
          <p:nvPr/>
        </p:nvSpPr>
        <p:spPr>
          <a:xfrm>
            <a:off x="1655550" y="4030650"/>
            <a:ext cx="5832900" cy="6156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 sz="1600">
                <a:solidFill>
                  <a:srgbClr val="344E41"/>
                </a:solidFill>
                <a:latin typeface="Raleway"/>
                <a:ea typeface="Raleway"/>
                <a:cs typeface="Raleway"/>
                <a:sym typeface="Raleway"/>
              </a:rPr>
              <a:t>First, I dropped the columns that were not necessary and did not have unique values inside (repeating the same value).</a:t>
            </a:r>
            <a:endParaRPr/>
          </a:p>
        </p:txBody>
      </p:sp>
      <p:pic>
        <p:nvPicPr>
          <p:cNvPr id="155" name="Google Shape;155;p27"/>
          <p:cNvPicPr preferRelativeResize="0"/>
          <p:nvPr/>
        </p:nvPicPr>
        <p:blipFill rotWithShape="1">
          <a:blip r:embed="rId3">
            <a:alphaModFix/>
          </a:blip>
          <a:srcRect b="15067" l="0" r="0" t="0"/>
          <a:stretch/>
        </p:blipFill>
        <p:spPr>
          <a:xfrm>
            <a:off x="1174563" y="761351"/>
            <a:ext cx="6806623" cy="2886025"/>
          </a:xfrm>
          <a:prstGeom prst="rect">
            <a:avLst/>
          </a:prstGeom>
          <a:noFill/>
          <a:ln>
            <a:noFill/>
          </a:ln>
        </p:spPr>
      </p:pic>
      <p:pic>
        <p:nvPicPr>
          <p:cNvPr id="156" name="Google Shape;156;p27"/>
          <p:cNvPicPr preferRelativeResize="0"/>
          <p:nvPr/>
        </p:nvPicPr>
        <p:blipFill>
          <a:blip r:embed="rId4">
            <a:alphaModFix/>
          </a:blip>
          <a:stretch>
            <a:fillRect/>
          </a:stretch>
        </p:blipFill>
        <p:spPr>
          <a:xfrm>
            <a:off x="1253825" y="3515650"/>
            <a:ext cx="6636355" cy="515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D7CD"/>
        </a:solidFill>
      </p:bgPr>
    </p:bg>
    <p:spTree>
      <p:nvGrpSpPr>
        <p:cNvPr id="160" name="Shape 160"/>
        <p:cNvGrpSpPr/>
        <p:nvPr/>
      </p:nvGrpSpPr>
      <p:grpSpPr>
        <a:xfrm>
          <a:off x="0" y="0"/>
          <a:ext cx="0" cy="0"/>
          <a:chOff x="0" y="0"/>
          <a:chExt cx="0" cy="0"/>
        </a:xfrm>
      </p:grpSpPr>
      <p:sp>
        <p:nvSpPr>
          <p:cNvPr id="161" name="Google Shape;161;p28"/>
          <p:cNvSpPr/>
          <p:nvPr/>
        </p:nvSpPr>
        <p:spPr>
          <a:xfrm>
            <a:off x="0" y="4629150"/>
            <a:ext cx="9144000" cy="514350"/>
          </a:xfrm>
          <a:custGeom>
            <a:rect b="b" l="l" r="r" t="t"/>
            <a:pathLst>
              <a:path extrusionOk="0" h="695960" w="12372622">
                <a:moveTo>
                  <a:pt x="0" y="0"/>
                </a:moveTo>
                <a:lnTo>
                  <a:pt x="12372622" y="0"/>
                </a:lnTo>
                <a:lnTo>
                  <a:pt x="12372622" y="695960"/>
                </a:lnTo>
                <a:lnTo>
                  <a:pt x="0" y="695960"/>
                </a:lnTo>
                <a:close/>
              </a:path>
            </a:pathLst>
          </a:custGeom>
          <a:solidFill>
            <a:srgbClr val="A3B18A"/>
          </a:solidFill>
          <a:ln>
            <a:noFill/>
          </a:ln>
        </p:spPr>
      </p:sp>
      <p:sp>
        <p:nvSpPr>
          <p:cNvPr id="162" name="Google Shape;162;p28"/>
          <p:cNvSpPr txBox="1"/>
          <p:nvPr/>
        </p:nvSpPr>
        <p:spPr>
          <a:xfrm>
            <a:off x="7045968" y="4755429"/>
            <a:ext cx="1583700" cy="18480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lang="en" sz="1200">
                <a:solidFill>
                  <a:srgbClr val="344E41"/>
                </a:solidFill>
                <a:latin typeface="Raleway"/>
                <a:ea typeface="Raleway"/>
                <a:cs typeface="Raleway"/>
                <a:sym typeface="Raleway"/>
              </a:rPr>
              <a:t>4</a:t>
            </a:r>
            <a:endParaRPr sz="700"/>
          </a:p>
        </p:txBody>
      </p:sp>
      <p:sp>
        <p:nvSpPr>
          <p:cNvPr id="163" name="Google Shape;163;p28"/>
          <p:cNvSpPr txBox="1"/>
          <p:nvPr/>
        </p:nvSpPr>
        <p:spPr>
          <a:xfrm>
            <a:off x="1839600" y="313250"/>
            <a:ext cx="5464800" cy="400200"/>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None/>
            </a:pPr>
            <a:r>
              <a:rPr lang="en" sz="2600">
                <a:solidFill>
                  <a:srgbClr val="344E41"/>
                </a:solidFill>
                <a:latin typeface="Prata"/>
                <a:ea typeface="Prata"/>
                <a:cs typeface="Prata"/>
                <a:sym typeface="Prata"/>
              </a:rPr>
              <a:t>Data Preprocessing Stage cont.</a:t>
            </a:r>
            <a:endParaRPr sz="900"/>
          </a:p>
        </p:txBody>
      </p:sp>
      <p:sp>
        <p:nvSpPr>
          <p:cNvPr id="164" name="Google Shape;164;p28"/>
          <p:cNvSpPr txBox="1"/>
          <p:nvPr/>
        </p:nvSpPr>
        <p:spPr>
          <a:xfrm>
            <a:off x="701100" y="4030650"/>
            <a:ext cx="7624200" cy="6156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 sz="1600">
                <a:solidFill>
                  <a:srgbClr val="344E41"/>
                </a:solidFill>
                <a:latin typeface="Raleway"/>
                <a:ea typeface="Raleway"/>
                <a:cs typeface="Raleway"/>
                <a:sym typeface="Raleway"/>
              </a:rPr>
              <a:t>Next, I started stripping strings from the numeric columns and additionally removing the word ‘Kolkata’ from the location column.</a:t>
            </a:r>
            <a:endParaRPr/>
          </a:p>
        </p:txBody>
      </p:sp>
      <p:pic>
        <p:nvPicPr>
          <p:cNvPr id="165" name="Google Shape;165;p28"/>
          <p:cNvPicPr preferRelativeResize="0"/>
          <p:nvPr/>
        </p:nvPicPr>
        <p:blipFill>
          <a:blip r:embed="rId3">
            <a:alphaModFix/>
          </a:blip>
          <a:stretch>
            <a:fillRect/>
          </a:stretch>
        </p:blipFill>
        <p:spPr>
          <a:xfrm>
            <a:off x="701100" y="788587"/>
            <a:ext cx="7741788" cy="31669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D7CD"/>
        </a:solidFill>
      </p:bgPr>
    </p:bg>
    <p:spTree>
      <p:nvGrpSpPr>
        <p:cNvPr id="169" name="Shape 169"/>
        <p:cNvGrpSpPr/>
        <p:nvPr/>
      </p:nvGrpSpPr>
      <p:grpSpPr>
        <a:xfrm>
          <a:off x="0" y="0"/>
          <a:ext cx="0" cy="0"/>
          <a:chOff x="0" y="0"/>
          <a:chExt cx="0" cy="0"/>
        </a:xfrm>
      </p:grpSpPr>
      <p:sp>
        <p:nvSpPr>
          <p:cNvPr id="170" name="Google Shape;170;p29"/>
          <p:cNvSpPr/>
          <p:nvPr/>
        </p:nvSpPr>
        <p:spPr>
          <a:xfrm>
            <a:off x="0" y="4629150"/>
            <a:ext cx="9155740" cy="515010"/>
          </a:xfrm>
          <a:custGeom>
            <a:rect b="b" l="l" r="r" t="t"/>
            <a:pathLst>
              <a:path extrusionOk="0" h="695960" w="12372622">
                <a:moveTo>
                  <a:pt x="0" y="0"/>
                </a:moveTo>
                <a:lnTo>
                  <a:pt x="12372622" y="0"/>
                </a:lnTo>
                <a:lnTo>
                  <a:pt x="12372622" y="695960"/>
                </a:lnTo>
                <a:lnTo>
                  <a:pt x="0" y="695960"/>
                </a:lnTo>
                <a:close/>
              </a:path>
            </a:pathLst>
          </a:custGeom>
          <a:solidFill>
            <a:srgbClr val="A3B18A"/>
          </a:solidFill>
          <a:ln>
            <a:noFill/>
          </a:ln>
        </p:spPr>
      </p:sp>
      <p:sp>
        <p:nvSpPr>
          <p:cNvPr id="171" name="Google Shape;171;p29"/>
          <p:cNvSpPr txBox="1"/>
          <p:nvPr/>
        </p:nvSpPr>
        <p:spPr>
          <a:xfrm>
            <a:off x="7045968" y="4755429"/>
            <a:ext cx="1583700" cy="18480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lang="en" sz="1200">
                <a:solidFill>
                  <a:srgbClr val="344E41"/>
                </a:solidFill>
                <a:latin typeface="Raleway"/>
                <a:ea typeface="Raleway"/>
                <a:cs typeface="Raleway"/>
                <a:sym typeface="Raleway"/>
              </a:rPr>
              <a:t>5</a:t>
            </a:r>
            <a:endParaRPr sz="700"/>
          </a:p>
        </p:txBody>
      </p:sp>
      <p:sp>
        <p:nvSpPr>
          <p:cNvPr id="172" name="Google Shape;172;p29"/>
          <p:cNvSpPr txBox="1"/>
          <p:nvPr/>
        </p:nvSpPr>
        <p:spPr>
          <a:xfrm>
            <a:off x="1839600" y="313250"/>
            <a:ext cx="5464800" cy="400200"/>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None/>
            </a:pPr>
            <a:r>
              <a:rPr lang="en" sz="2600">
                <a:solidFill>
                  <a:srgbClr val="344E41"/>
                </a:solidFill>
                <a:latin typeface="Prata"/>
                <a:ea typeface="Prata"/>
                <a:cs typeface="Prata"/>
                <a:sym typeface="Prata"/>
              </a:rPr>
              <a:t>Data Preprocessing Stage cont.</a:t>
            </a:r>
            <a:endParaRPr sz="900"/>
          </a:p>
        </p:txBody>
      </p:sp>
      <p:sp>
        <p:nvSpPr>
          <p:cNvPr id="173" name="Google Shape;173;p29"/>
          <p:cNvSpPr txBox="1"/>
          <p:nvPr/>
        </p:nvSpPr>
        <p:spPr>
          <a:xfrm>
            <a:off x="759900" y="4166450"/>
            <a:ext cx="7624200" cy="2463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 sz="1600">
                <a:solidFill>
                  <a:srgbClr val="344E41"/>
                </a:solidFill>
                <a:latin typeface="Raleway"/>
                <a:ea typeface="Raleway"/>
                <a:cs typeface="Raleway"/>
                <a:sym typeface="Raleway"/>
              </a:rPr>
              <a:t>More examples of splitting off the string.</a:t>
            </a:r>
            <a:endParaRPr/>
          </a:p>
        </p:txBody>
      </p:sp>
      <p:pic>
        <p:nvPicPr>
          <p:cNvPr id="174" name="Google Shape;174;p29"/>
          <p:cNvPicPr preferRelativeResize="0"/>
          <p:nvPr/>
        </p:nvPicPr>
        <p:blipFill>
          <a:blip r:embed="rId3">
            <a:alphaModFix/>
          </a:blip>
          <a:stretch>
            <a:fillRect/>
          </a:stretch>
        </p:blipFill>
        <p:spPr>
          <a:xfrm>
            <a:off x="1289276" y="798475"/>
            <a:ext cx="6565450" cy="32430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D7CD"/>
        </a:solidFill>
      </p:bgPr>
    </p:bg>
    <p:spTree>
      <p:nvGrpSpPr>
        <p:cNvPr id="178" name="Shape 178"/>
        <p:cNvGrpSpPr/>
        <p:nvPr/>
      </p:nvGrpSpPr>
      <p:grpSpPr>
        <a:xfrm>
          <a:off x="0" y="0"/>
          <a:ext cx="0" cy="0"/>
          <a:chOff x="0" y="0"/>
          <a:chExt cx="0" cy="0"/>
        </a:xfrm>
      </p:grpSpPr>
      <p:sp>
        <p:nvSpPr>
          <p:cNvPr id="179" name="Google Shape;179;p30"/>
          <p:cNvSpPr/>
          <p:nvPr/>
        </p:nvSpPr>
        <p:spPr>
          <a:xfrm>
            <a:off x="0" y="4629150"/>
            <a:ext cx="9155740" cy="515010"/>
          </a:xfrm>
          <a:custGeom>
            <a:rect b="b" l="l" r="r" t="t"/>
            <a:pathLst>
              <a:path extrusionOk="0" h="695960" w="12372622">
                <a:moveTo>
                  <a:pt x="0" y="0"/>
                </a:moveTo>
                <a:lnTo>
                  <a:pt x="12372622" y="0"/>
                </a:lnTo>
                <a:lnTo>
                  <a:pt x="12372622" y="695960"/>
                </a:lnTo>
                <a:lnTo>
                  <a:pt x="0" y="695960"/>
                </a:lnTo>
                <a:close/>
              </a:path>
            </a:pathLst>
          </a:custGeom>
          <a:solidFill>
            <a:srgbClr val="A3B18A"/>
          </a:solidFill>
          <a:ln>
            <a:noFill/>
          </a:ln>
        </p:spPr>
      </p:sp>
      <p:sp>
        <p:nvSpPr>
          <p:cNvPr id="180" name="Google Shape;180;p30"/>
          <p:cNvSpPr txBox="1"/>
          <p:nvPr/>
        </p:nvSpPr>
        <p:spPr>
          <a:xfrm>
            <a:off x="7045968" y="4755429"/>
            <a:ext cx="1583700" cy="18480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lang="en" sz="1200">
                <a:solidFill>
                  <a:srgbClr val="344E41"/>
                </a:solidFill>
                <a:latin typeface="Raleway"/>
                <a:ea typeface="Raleway"/>
                <a:cs typeface="Raleway"/>
                <a:sym typeface="Raleway"/>
              </a:rPr>
              <a:t>6</a:t>
            </a:r>
            <a:endParaRPr sz="700"/>
          </a:p>
        </p:txBody>
      </p:sp>
      <p:sp>
        <p:nvSpPr>
          <p:cNvPr id="181" name="Google Shape;181;p30"/>
          <p:cNvSpPr txBox="1"/>
          <p:nvPr/>
        </p:nvSpPr>
        <p:spPr>
          <a:xfrm>
            <a:off x="1839600" y="313250"/>
            <a:ext cx="5464800" cy="400200"/>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None/>
            </a:pPr>
            <a:r>
              <a:rPr lang="en" sz="2600">
                <a:solidFill>
                  <a:srgbClr val="344E41"/>
                </a:solidFill>
                <a:latin typeface="Prata"/>
                <a:ea typeface="Prata"/>
                <a:cs typeface="Prata"/>
                <a:sym typeface="Prata"/>
              </a:rPr>
              <a:t>Data Preprocessing Stage cont.</a:t>
            </a:r>
            <a:endParaRPr sz="900"/>
          </a:p>
        </p:txBody>
      </p:sp>
      <p:sp>
        <p:nvSpPr>
          <p:cNvPr id="182" name="Google Shape;182;p30"/>
          <p:cNvSpPr txBox="1"/>
          <p:nvPr/>
        </p:nvSpPr>
        <p:spPr>
          <a:xfrm>
            <a:off x="759900" y="4166450"/>
            <a:ext cx="7624200" cy="2463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 sz="1600">
                <a:solidFill>
                  <a:srgbClr val="344E41"/>
                </a:solidFill>
                <a:latin typeface="Raleway"/>
                <a:ea typeface="Raleway"/>
                <a:cs typeface="Raleway"/>
                <a:sym typeface="Raleway"/>
              </a:rPr>
              <a:t>Third, I checked for NaN values, dropped them, and resetted the index.</a:t>
            </a:r>
            <a:endParaRPr/>
          </a:p>
        </p:txBody>
      </p:sp>
      <p:pic>
        <p:nvPicPr>
          <p:cNvPr id="183" name="Google Shape;183;p30"/>
          <p:cNvPicPr preferRelativeResize="0"/>
          <p:nvPr/>
        </p:nvPicPr>
        <p:blipFill>
          <a:blip r:embed="rId3">
            <a:alphaModFix/>
          </a:blip>
          <a:stretch>
            <a:fillRect/>
          </a:stretch>
        </p:blipFill>
        <p:spPr>
          <a:xfrm>
            <a:off x="1463050" y="803900"/>
            <a:ext cx="6217905" cy="31461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D7CD"/>
        </a:solidFill>
      </p:bgPr>
    </p:bg>
    <p:spTree>
      <p:nvGrpSpPr>
        <p:cNvPr id="187" name="Shape 187"/>
        <p:cNvGrpSpPr/>
        <p:nvPr/>
      </p:nvGrpSpPr>
      <p:grpSpPr>
        <a:xfrm>
          <a:off x="0" y="0"/>
          <a:ext cx="0" cy="0"/>
          <a:chOff x="0" y="0"/>
          <a:chExt cx="0" cy="0"/>
        </a:xfrm>
      </p:grpSpPr>
      <p:sp>
        <p:nvSpPr>
          <p:cNvPr id="188" name="Google Shape;188;p31"/>
          <p:cNvSpPr/>
          <p:nvPr/>
        </p:nvSpPr>
        <p:spPr>
          <a:xfrm>
            <a:off x="0" y="4629150"/>
            <a:ext cx="9155740" cy="515010"/>
          </a:xfrm>
          <a:custGeom>
            <a:rect b="b" l="l" r="r" t="t"/>
            <a:pathLst>
              <a:path extrusionOk="0" h="695960" w="12372622">
                <a:moveTo>
                  <a:pt x="0" y="0"/>
                </a:moveTo>
                <a:lnTo>
                  <a:pt x="12372622" y="0"/>
                </a:lnTo>
                <a:lnTo>
                  <a:pt x="12372622" y="695960"/>
                </a:lnTo>
                <a:lnTo>
                  <a:pt x="0" y="695960"/>
                </a:lnTo>
                <a:close/>
              </a:path>
            </a:pathLst>
          </a:custGeom>
          <a:solidFill>
            <a:srgbClr val="A3B18A"/>
          </a:solidFill>
          <a:ln>
            <a:noFill/>
          </a:ln>
        </p:spPr>
      </p:sp>
      <p:sp>
        <p:nvSpPr>
          <p:cNvPr id="189" name="Google Shape;189;p31"/>
          <p:cNvSpPr txBox="1"/>
          <p:nvPr/>
        </p:nvSpPr>
        <p:spPr>
          <a:xfrm>
            <a:off x="7045968" y="4755429"/>
            <a:ext cx="1583700" cy="18480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lang="en" sz="1200">
                <a:solidFill>
                  <a:srgbClr val="344E41"/>
                </a:solidFill>
                <a:latin typeface="Raleway"/>
                <a:ea typeface="Raleway"/>
                <a:cs typeface="Raleway"/>
                <a:sym typeface="Raleway"/>
              </a:rPr>
              <a:t>7</a:t>
            </a:r>
            <a:endParaRPr sz="700"/>
          </a:p>
        </p:txBody>
      </p:sp>
      <p:sp>
        <p:nvSpPr>
          <p:cNvPr id="190" name="Google Shape;190;p31"/>
          <p:cNvSpPr txBox="1"/>
          <p:nvPr/>
        </p:nvSpPr>
        <p:spPr>
          <a:xfrm>
            <a:off x="1839600" y="313250"/>
            <a:ext cx="5464800" cy="400200"/>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None/>
            </a:pPr>
            <a:r>
              <a:rPr lang="en" sz="2600">
                <a:solidFill>
                  <a:srgbClr val="344E41"/>
                </a:solidFill>
                <a:latin typeface="Prata"/>
                <a:ea typeface="Prata"/>
                <a:cs typeface="Prata"/>
                <a:sym typeface="Prata"/>
              </a:rPr>
              <a:t>Data Preprocessing Stage cont.</a:t>
            </a:r>
            <a:endParaRPr sz="900"/>
          </a:p>
        </p:txBody>
      </p:sp>
      <p:sp>
        <p:nvSpPr>
          <p:cNvPr id="191" name="Google Shape;191;p31"/>
          <p:cNvSpPr txBox="1"/>
          <p:nvPr/>
        </p:nvSpPr>
        <p:spPr>
          <a:xfrm>
            <a:off x="742125" y="3983600"/>
            <a:ext cx="7296600" cy="6156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 sz="1600">
                <a:solidFill>
                  <a:srgbClr val="344E41"/>
                </a:solidFill>
                <a:latin typeface="Raleway"/>
                <a:ea typeface="Raleway"/>
                <a:cs typeface="Raleway"/>
                <a:sym typeface="Raleway"/>
              </a:rPr>
              <a:t>Converting the money (crores, lakhs, K) into the same category of lakhs in order to make it consistent. (I did this as well for the price per sq ft)</a:t>
            </a:r>
            <a:endParaRPr/>
          </a:p>
        </p:txBody>
      </p:sp>
      <p:pic>
        <p:nvPicPr>
          <p:cNvPr id="192" name="Google Shape;192;p31"/>
          <p:cNvPicPr preferRelativeResize="0"/>
          <p:nvPr/>
        </p:nvPicPr>
        <p:blipFill>
          <a:blip r:embed="rId3">
            <a:alphaModFix/>
          </a:blip>
          <a:stretch>
            <a:fillRect/>
          </a:stretch>
        </p:blipFill>
        <p:spPr>
          <a:xfrm>
            <a:off x="0" y="713449"/>
            <a:ext cx="6237999" cy="2221299"/>
          </a:xfrm>
          <a:prstGeom prst="rect">
            <a:avLst/>
          </a:prstGeom>
          <a:noFill/>
          <a:ln>
            <a:noFill/>
          </a:ln>
        </p:spPr>
      </p:pic>
      <p:pic>
        <p:nvPicPr>
          <p:cNvPr id="193" name="Google Shape;193;p31"/>
          <p:cNvPicPr preferRelativeResize="0"/>
          <p:nvPr/>
        </p:nvPicPr>
        <p:blipFill>
          <a:blip r:embed="rId4">
            <a:alphaModFix/>
          </a:blip>
          <a:stretch>
            <a:fillRect/>
          </a:stretch>
        </p:blipFill>
        <p:spPr>
          <a:xfrm>
            <a:off x="3411225" y="1359000"/>
            <a:ext cx="5627127" cy="26245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D7CD"/>
        </a:solidFill>
      </p:bgPr>
    </p:bg>
    <p:spTree>
      <p:nvGrpSpPr>
        <p:cNvPr id="197" name="Shape 197"/>
        <p:cNvGrpSpPr/>
        <p:nvPr/>
      </p:nvGrpSpPr>
      <p:grpSpPr>
        <a:xfrm>
          <a:off x="0" y="0"/>
          <a:ext cx="0" cy="0"/>
          <a:chOff x="0" y="0"/>
          <a:chExt cx="0" cy="0"/>
        </a:xfrm>
      </p:grpSpPr>
      <p:sp>
        <p:nvSpPr>
          <p:cNvPr id="198" name="Google Shape;198;p32"/>
          <p:cNvSpPr/>
          <p:nvPr/>
        </p:nvSpPr>
        <p:spPr>
          <a:xfrm>
            <a:off x="0" y="4629150"/>
            <a:ext cx="9155740" cy="515010"/>
          </a:xfrm>
          <a:custGeom>
            <a:rect b="b" l="l" r="r" t="t"/>
            <a:pathLst>
              <a:path extrusionOk="0" h="695960" w="12372622">
                <a:moveTo>
                  <a:pt x="0" y="0"/>
                </a:moveTo>
                <a:lnTo>
                  <a:pt x="12372622" y="0"/>
                </a:lnTo>
                <a:lnTo>
                  <a:pt x="12372622" y="695960"/>
                </a:lnTo>
                <a:lnTo>
                  <a:pt x="0" y="695960"/>
                </a:lnTo>
                <a:close/>
              </a:path>
            </a:pathLst>
          </a:custGeom>
          <a:solidFill>
            <a:srgbClr val="A3B18A"/>
          </a:solidFill>
          <a:ln>
            <a:noFill/>
          </a:ln>
        </p:spPr>
      </p:sp>
      <p:sp>
        <p:nvSpPr>
          <p:cNvPr id="199" name="Google Shape;199;p32"/>
          <p:cNvSpPr txBox="1"/>
          <p:nvPr/>
        </p:nvSpPr>
        <p:spPr>
          <a:xfrm>
            <a:off x="7045968" y="4755429"/>
            <a:ext cx="1583700" cy="18480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lang="en" sz="1200">
                <a:solidFill>
                  <a:srgbClr val="344E41"/>
                </a:solidFill>
                <a:latin typeface="Raleway"/>
                <a:ea typeface="Raleway"/>
                <a:cs typeface="Raleway"/>
                <a:sym typeface="Raleway"/>
              </a:rPr>
              <a:t>8</a:t>
            </a:r>
            <a:endParaRPr sz="700"/>
          </a:p>
        </p:txBody>
      </p:sp>
      <p:sp>
        <p:nvSpPr>
          <p:cNvPr id="200" name="Google Shape;200;p32"/>
          <p:cNvSpPr txBox="1"/>
          <p:nvPr/>
        </p:nvSpPr>
        <p:spPr>
          <a:xfrm>
            <a:off x="1839600" y="313250"/>
            <a:ext cx="5464800" cy="400200"/>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None/>
            </a:pPr>
            <a:r>
              <a:rPr lang="en" sz="2600">
                <a:solidFill>
                  <a:srgbClr val="344E41"/>
                </a:solidFill>
                <a:latin typeface="Prata"/>
                <a:ea typeface="Prata"/>
                <a:cs typeface="Prata"/>
                <a:sym typeface="Prata"/>
              </a:rPr>
              <a:t>Data Preprocessing Stage cont.</a:t>
            </a:r>
            <a:endParaRPr sz="900"/>
          </a:p>
        </p:txBody>
      </p:sp>
      <p:sp>
        <p:nvSpPr>
          <p:cNvPr id="201" name="Google Shape;201;p32"/>
          <p:cNvSpPr txBox="1"/>
          <p:nvPr/>
        </p:nvSpPr>
        <p:spPr>
          <a:xfrm>
            <a:off x="5417950" y="789025"/>
            <a:ext cx="3697800" cy="13545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 sz="1600">
                <a:solidFill>
                  <a:srgbClr val="344E41"/>
                </a:solidFill>
                <a:latin typeface="Raleway"/>
                <a:ea typeface="Raleway"/>
                <a:cs typeface="Raleway"/>
                <a:sym typeface="Raleway"/>
              </a:rPr>
              <a:t>After converting the numeric money feature, I converted the string values into float and int. (Total_Sq.ft was converted as well)</a:t>
            </a:r>
            <a:endParaRPr/>
          </a:p>
        </p:txBody>
      </p:sp>
      <p:pic>
        <p:nvPicPr>
          <p:cNvPr id="202" name="Google Shape;202;p32"/>
          <p:cNvPicPr preferRelativeResize="0"/>
          <p:nvPr/>
        </p:nvPicPr>
        <p:blipFill>
          <a:blip r:embed="rId3">
            <a:alphaModFix/>
          </a:blip>
          <a:stretch>
            <a:fillRect/>
          </a:stretch>
        </p:blipFill>
        <p:spPr>
          <a:xfrm>
            <a:off x="180953" y="713450"/>
            <a:ext cx="5237002" cy="2375201"/>
          </a:xfrm>
          <a:prstGeom prst="rect">
            <a:avLst/>
          </a:prstGeom>
          <a:noFill/>
          <a:ln>
            <a:noFill/>
          </a:ln>
        </p:spPr>
      </p:pic>
      <p:pic>
        <p:nvPicPr>
          <p:cNvPr id="203" name="Google Shape;203;p32"/>
          <p:cNvPicPr preferRelativeResize="0"/>
          <p:nvPr/>
        </p:nvPicPr>
        <p:blipFill>
          <a:blip r:embed="rId4">
            <a:alphaModFix/>
          </a:blip>
          <a:stretch>
            <a:fillRect/>
          </a:stretch>
        </p:blipFill>
        <p:spPr>
          <a:xfrm>
            <a:off x="4156050" y="2518350"/>
            <a:ext cx="4959702" cy="2176851"/>
          </a:xfrm>
          <a:prstGeom prst="rect">
            <a:avLst/>
          </a:prstGeom>
          <a:noFill/>
          <a:ln>
            <a:noFill/>
          </a:ln>
        </p:spPr>
      </p:pic>
      <p:sp>
        <p:nvSpPr>
          <p:cNvPr id="204" name="Google Shape;204;p32"/>
          <p:cNvSpPr txBox="1"/>
          <p:nvPr/>
        </p:nvSpPr>
        <p:spPr>
          <a:xfrm>
            <a:off x="248850" y="3366300"/>
            <a:ext cx="3697800" cy="985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 sz="1600">
                <a:solidFill>
                  <a:srgbClr val="344E41"/>
                </a:solidFill>
                <a:latin typeface="Raleway"/>
                <a:ea typeface="Raleway"/>
                <a:cs typeface="Raleway"/>
                <a:sym typeface="Raleway"/>
              </a:rPr>
              <a:t>I dropped the Room_Type and Owner_name since it did not contribute to the data prediction.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D7CD"/>
        </a:solidFill>
      </p:bgPr>
    </p:bg>
    <p:spTree>
      <p:nvGrpSpPr>
        <p:cNvPr id="208" name="Shape 208"/>
        <p:cNvGrpSpPr/>
        <p:nvPr/>
      </p:nvGrpSpPr>
      <p:grpSpPr>
        <a:xfrm>
          <a:off x="0" y="0"/>
          <a:ext cx="0" cy="0"/>
          <a:chOff x="0" y="0"/>
          <a:chExt cx="0" cy="0"/>
        </a:xfrm>
      </p:grpSpPr>
      <p:sp>
        <p:nvSpPr>
          <p:cNvPr id="209" name="Google Shape;209;p33"/>
          <p:cNvSpPr/>
          <p:nvPr/>
        </p:nvSpPr>
        <p:spPr>
          <a:xfrm>
            <a:off x="0" y="4629150"/>
            <a:ext cx="9155740" cy="515010"/>
          </a:xfrm>
          <a:custGeom>
            <a:rect b="b" l="l" r="r" t="t"/>
            <a:pathLst>
              <a:path extrusionOk="0" h="695960" w="12372622">
                <a:moveTo>
                  <a:pt x="0" y="0"/>
                </a:moveTo>
                <a:lnTo>
                  <a:pt x="12372622" y="0"/>
                </a:lnTo>
                <a:lnTo>
                  <a:pt x="12372622" y="695960"/>
                </a:lnTo>
                <a:lnTo>
                  <a:pt x="0" y="695960"/>
                </a:lnTo>
                <a:close/>
              </a:path>
            </a:pathLst>
          </a:custGeom>
          <a:solidFill>
            <a:srgbClr val="A3B18A"/>
          </a:solidFill>
          <a:ln>
            <a:noFill/>
          </a:ln>
        </p:spPr>
      </p:sp>
      <p:sp>
        <p:nvSpPr>
          <p:cNvPr id="210" name="Google Shape;210;p33"/>
          <p:cNvSpPr txBox="1"/>
          <p:nvPr/>
        </p:nvSpPr>
        <p:spPr>
          <a:xfrm>
            <a:off x="7045968" y="4755429"/>
            <a:ext cx="1583700" cy="18480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lang="en" sz="1200">
                <a:solidFill>
                  <a:srgbClr val="344E41"/>
                </a:solidFill>
                <a:latin typeface="Raleway"/>
                <a:ea typeface="Raleway"/>
                <a:cs typeface="Raleway"/>
                <a:sym typeface="Raleway"/>
              </a:rPr>
              <a:t>9</a:t>
            </a:r>
            <a:endParaRPr sz="700"/>
          </a:p>
        </p:txBody>
      </p:sp>
      <p:sp>
        <p:nvSpPr>
          <p:cNvPr id="211" name="Google Shape;211;p33"/>
          <p:cNvSpPr txBox="1"/>
          <p:nvPr/>
        </p:nvSpPr>
        <p:spPr>
          <a:xfrm>
            <a:off x="1839600" y="313250"/>
            <a:ext cx="5464800" cy="400200"/>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None/>
            </a:pPr>
            <a:r>
              <a:rPr lang="en" sz="2600">
                <a:solidFill>
                  <a:srgbClr val="344E41"/>
                </a:solidFill>
                <a:latin typeface="Prata"/>
                <a:ea typeface="Prata"/>
                <a:cs typeface="Prata"/>
                <a:sym typeface="Prata"/>
              </a:rPr>
              <a:t>Fixing Data Right-Skewed</a:t>
            </a:r>
            <a:endParaRPr sz="900"/>
          </a:p>
        </p:txBody>
      </p:sp>
      <p:sp>
        <p:nvSpPr>
          <p:cNvPr id="212" name="Google Shape;212;p33"/>
          <p:cNvSpPr txBox="1"/>
          <p:nvPr/>
        </p:nvSpPr>
        <p:spPr>
          <a:xfrm>
            <a:off x="4123100" y="3361838"/>
            <a:ext cx="4840800" cy="12930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 sz="1200">
                <a:solidFill>
                  <a:srgbClr val="344E41"/>
                </a:solidFill>
                <a:latin typeface="Raleway"/>
                <a:ea typeface="Raleway"/>
                <a:cs typeface="Raleway"/>
                <a:sym typeface="Raleway"/>
              </a:rPr>
              <a:t>I used log transformations in order to make the data more evenly distributed into a more bell-shaped size. (In order: ‘Flat_Price’, ‘Total_Sq.ft’, ‘Price_per_sq.ft’, ‘EMI_Starts’) However, I had to drop ‘EMI_Starts’ due it being too closely correlated with ‘Flat_Price’</a:t>
            </a:r>
            <a:endParaRPr sz="1200">
              <a:solidFill>
                <a:srgbClr val="344E41"/>
              </a:solidFill>
              <a:latin typeface="Raleway"/>
              <a:ea typeface="Raleway"/>
              <a:cs typeface="Raleway"/>
              <a:sym typeface="Raleway"/>
            </a:endParaRPr>
          </a:p>
          <a:p>
            <a:pPr indent="0" lvl="0" marL="0" marR="0" rtl="0" algn="ctr">
              <a:lnSpc>
                <a:spcPct val="150000"/>
              </a:lnSpc>
              <a:spcBef>
                <a:spcPts val="0"/>
              </a:spcBef>
              <a:spcAft>
                <a:spcPts val="0"/>
              </a:spcAft>
              <a:buNone/>
            </a:pPr>
            <a:r>
              <a:rPr lang="en" sz="1200">
                <a:solidFill>
                  <a:srgbClr val="344E41"/>
                </a:solidFill>
                <a:latin typeface="Raleway"/>
                <a:ea typeface="Raleway"/>
                <a:cs typeface="Raleway"/>
                <a:sym typeface="Raleway"/>
              </a:rPr>
              <a:t> (1.0 -&gt; 0.9977)</a:t>
            </a:r>
            <a:endParaRPr sz="1200"/>
          </a:p>
        </p:txBody>
      </p:sp>
      <p:sp>
        <p:nvSpPr>
          <p:cNvPr id="213" name="Google Shape;213;p33"/>
          <p:cNvSpPr txBox="1"/>
          <p:nvPr/>
        </p:nvSpPr>
        <p:spPr>
          <a:xfrm>
            <a:off x="248850" y="3366300"/>
            <a:ext cx="3697800" cy="985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 sz="1600">
                <a:solidFill>
                  <a:srgbClr val="344E41"/>
                </a:solidFill>
                <a:latin typeface="Raleway"/>
                <a:ea typeface="Raleway"/>
                <a:cs typeface="Raleway"/>
                <a:sym typeface="Raleway"/>
              </a:rPr>
              <a:t>By checking the features by histogram, I was able to see that all the data was right skewed.</a:t>
            </a:r>
            <a:endParaRPr/>
          </a:p>
        </p:txBody>
      </p:sp>
      <p:pic>
        <p:nvPicPr>
          <p:cNvPr id="214" name="Google Shape;214;p33"/>
          <p:cNvPicPr preferRelativeResize="0"/>
          <p:nvPr/>
        </p:nvPicPr>
        <p:blipFill>
          <a:blip r:embed="rId3">
            <a:alphaModFix/>
          </a:blip>
          <a:stretch>
            <a:fillRect/>
          </a:stretch>
        </p:blipFill>
        <p:spPr>
          <a:xfrm>
            <a:off x="586363" y="865850"/>
            <a:ext cx="3022776" cy="2348050"/>
          </a:xfrm>
          <a:prstGeom prst="rect">
            <a:avLst/>
          </a:prstGeom>
          <a:noFill/>
          <a:ln>
            <a:noFill/>
          </a:ln>
        </p:spPr>
      </p:pic>
      <p:pic>
        <p:nvPicPr>
          <p:cNvPr id="215" name="Google Shape;215;p33"/>
          <p:cNvPicPr preferRelativeResize="0"/>
          <p:nvPr/>
        </p:nvPicPr>
        <p:blipFill>
          <a:blip r:embed="rId4">
            <a:alphaModFix/>
          </a:blip>
          <a:stretch>
            <a:fillRect/>
          </a:stretch>
        </p:blipFill>
        <p:spPr>
          <a:xfrm>
            <a:off x="786025" y="1017150"/>
            <a:ext cx="1317075" cy="662674"/>
          </a:xfrm>
          <a:prstGeom prst="rect">
            <a:avLst/>
          </a:prstGeom>
          <a:noFill/>
          <a:ln>
            <a:noFill/>
          </a:ln>
        </p:spPr>
      </p:pic>
      <p:pic>
        <p:nvPicPr>
          <p:cNvPr id="216" name="Google Shape;216;p33"/>
          <p:cNvPicPr preferRelativeResize="0"/>
          <p:nvPr/>
        </p:nvPicPr>
        <p:blipFill>
          <a:blip r:embed="rId5">
            <a:alphaModFix/>
          </a:blip>
          <a:stretch>
            <a:fillRect/>
          </a:stretch>
        </p:blipFill>
        <p:spPr>
          <a:xfrm>
            <a:off x="4769325" y="830825"/>
            <a:ext cx="1715000" cy="1167975"/>
          </a:xfrm>
          <a:prstGeom prst="rect">
            <a:avLst/>
          </a:prstGeom>
          <a:noFill/>
          <a:ln>
            <a:noFill/>
          </a:ln>
        </p:spPr>
      </p:pic>
      <p:pic>
        <p:nvPicPr>
          <p:cNvPr id="217" name="Google Shape;217;p33"/>
          <p:cNvPicPr preferRelativeResize="0"/>
          <p:nvPr/>
        </p:nvPicPr>
        <p:blipFill>
          <a:blip r:embed="rId6">
            <a:alphaModFix/>
          </a:blip>
          <a:stretch>
            <a:fillRect/>
          </a:stretch>
        </p:blipFill>
        <p:spPr>
          <a:xfrm>
            <a:off x="6604350" y="830825"/>
            <a:ext cx="1807854" cy="1167975"/>
          </a:xfrm>
          <a:prstGeom prst="rect">
            <a:avLst/>
          </a:prstGeom>
          <a:noFill/>
          <a:ln>
            <a:noFill/>
          </a:ln>
        </p:spPr>
      </p:pic>
      <p:pic>
        <p:nvPicPr>
          <p:cNvPr id="218" name="Google Shape;218;p33"/>
          <p:cNvPicPr preferRelativeResize="0"/>
          <p:nvPr/>
        </p:nvPicPr>
        <p:blipFill>
          <a:blip r:embed="rId7">
            <a:alphaModFix/>
          </a:blip>
          <a:stretch>
            <a:fillRect/>
          </a:stretch>
        </p:blipFill>
        <p:spPr>
          <a:xfrm>
            <a:off x="4769325" y="2050148"/>
            <a:ext cx="1715006" cy="1264813"/>
          </a:xfrm>
          <a:prstGeom prst="rect">
            <a:avLst/>
          </a:prstGeom>
          <a:noFill/>
          <a:ln>
            <a:noFill/>
          </a:ln>
        </p:spPr>
      </p:pic>
      <p:pic>
        <p:nvPicPr>
          <p:cNvPr id="219" name="Google Shape;219;p33"/>
          <p:cNvPicPr preferRelativeResize="0"/>
          <p:nvPr/>
        </p:nvPicPr>
        <p:blipFill>
          <a:blip r:embed="rId8">
            <a:alphaModFix/>
          </a:blip>
          <a:stretch>
            <a:fillRect/>
          </a:stretch>
        </p:blipFill>
        <p:spPr>
          <a:xfrm>
            <a:off x="6604350" y="2050150"/>
            <a:ext cx="1807849" cy="1264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D7CD"/>
        </a:solidFill>
      </p:bgPr>
    </p:bg>
    <p:spTree>
      <p:nvGrpSpPr>
        <p:cNvPr id="223" name="Shape 223"/>
        <p:cNvGrpSpPr/>
        <p:nvPr/>
      </p:nvGrpSpPr>
      <p:grpSpPr>
        <a:xfrm>
          <a:off x="0" y="0"/>
          <a:ext cx="0" cy="0"/>
          <a:chOff x="0" y="0"/>
          <a:chExt cx="0" cy="0"/>
        </a:xfrm>
      </p:grpSpPr>
      <p:sp>
        <p:nvSpPr>
          <p:cNvPr id="224" name="Google Shape;224;p34"/>
          <p:cNvSpPr/>
          <p:nvPr/>
        </p:nvSpPr>
        <p:spPr>
          <a:xfrm>
            <a:off x="0" y="4629150"/>
            <a:ext cx="9155740" cy="515010"/>
          </a:xfrm>
          <a:custGeom>
            <a:rect b="b" l="l" r="r" t="t"/>
            <a:pathLst>
              <a:path extrusionOk="0" h="695960" w="12372622">
                <a:moveTo>
                  <a:pt x="0" y="0"/>
                </a:moveTo>
                <a:lnTo>
                  <a:pt x="12372622" y="0"/>
                </a:lnTo>
                <a:lnTo>
                  <a:pt x="12372622" y="695960"/>
                </a:lnTo>
                <a:lnTo>
                  <a:pt x="0" y="695960"/>
                </a:lnTo>
                <a:close/>
              </a:path>
            </a:pathLst>
          </a:custGeom>
          <a:solidFill>
            <a:srgbClr val="A3B18A"/>
          </a:solidFill>
          <a:ln>
            <a:noFill/>
          </a:ln>
        </p:spPr>
      </p:sp>
      <p:sp>
        <p:nvSpPr>
          <p:cNvPr id="225" name="Google Shape;225;p34"/>
          <p:cNvSpPr txBox="1"/>
          <p:nvPr/>
        </p:nvSpPr>
        <p:spPr>
          <a:xfrm>
            <a:off x="7045968" y="4755429"/>
            <a:ext cx="1583700" cy="18480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lang="en" sz="1200">
                <a:solidFill>
                  <a:srgbClr val="344E41"/>
                </a:solidFill>
                <a:latin typeface="Raleway"/>
                <a:ea typeface="Raleway"/>
                <a:cs typeface="Raleway"/>
                <a:sym typeface="Raleway"/>
              </a:rPr>
              <a:t>10</a:t>
            </a:r>
            <a:endParaRPr sz="700"/>
          </a:p>
        </p:txBody>
      </p:sp>
      <p:sp>
        <p:nvSpPr>
          <p:cNvPr id="226" name="Google Shape;226;p34"/>
          <p:cNvSpPr txBox="1"/>
          <p:nvPr/>
        </p:nvSpPr>
        <p:spPr>
          <a:xfrm>
            <a:off x="1839600" y="313250"/>
            <a:ext cx="5464800" cy="400200"/>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None/>
            </a:pPr>
            <a:r>
              <a:rPr lang="en" sz="2600">
                <a:solidFill>
                  <a:srgbClr val="344E41"/>
                </a:solidFill>
                <a:latin typeface="Prata"/>
                <a:ea typeface="Prata"/>
                <a:cs typeface="Prata"/>
                <a:sym typeface="Prata"/>
              </a:rPr>
              <a:t>Categorical Features</a:t>
            </a:r>
            <a:endParaRPr sz="900"/>
          </a:p>
        </p:txBody>
      </p:sp>
      <p:sp>
        <p:nvSpPr>
          <p:cNvPr id="227" name="Google Shape;227;p34"/>
          <p:cNvSpPr txBox="1"/>
          <p:nvPr/>
        </p:nvSpPr>
        <p:spPr>
          <a:xfrm>
            <a:off x="4087500" y="3794163"/>
            <a:ext cx="4840800" cy="8004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 sz="1300">
                <a:solidFill>
                  <a:srgbClr val="344E41"/>
                </a:solidFill>
                <a:latin typeface="Raleway"/>
                <a:ea typeface="Raleway"/>
                <a:cs typeface="Raleway"/>
                <a:sym typeface="Raleway"/>
              </a:rPr>
              <a:t>Used Label Encoder for location (Hundred of unique values)</a:t>
            </a:r>
            <a:endParaRPr sz="1300">
              <a:solidFill>
                <a:srgbClr val="344E41"/>
              </a:solidFill>
              <a:latin typeface="Raleway"/>
              <a:ea typeface="Raleway"/>
              <a:cs typeface="Raleway"/>
              <a:sym typeface="Raleway"/>
            </a:endParaRPr>
          </a:p>
          <a:p>
            <a:pPr indent="0" lvl="0" marL="0" marR="0" rtl="0" algn="ctr">
              <a:lnSpc>
                <a:spcPct val="150000"/>
              </a:lnSpc>
              <a:spcBef>
                <a:spcPts val="0"/>
              </a:spcBef>
              <a:spcAft>
                <a:spcPts val="0"/>
              </a:spcAft>
              <a:buNone/>
            </a:pPr>
            <a:r>
              <a:rPr lang="en" sz="1300">
                <a:solidFill>
                  <a:srgbClr val="344E41"/>
                </a:solidFill>
                <a:latin typeface="Raleway"/>
                <a:ea typeface="Raleway"/>
                <a:cs typeface="Raleway"/>
                <a:sym typeface="Raleway"/>
              </a:rPr>
              <a:t> And used get_dummies to </a:t>
            </a:r>
            <a:r>
              <a:rPr lang="en" sz="1300">
                <a:solidFill>
                  <a:srgbClr val="344E41"/>
                </a:solidFill>
                <a:latin typeface="Raleway"/>
                <a:ea typeface="Raleway"/>
                <a:cs typeface="Raleway"/>
                <a:sym typeface="Raleway"/>
              </a:rPr>
              <a:t>separate</a:t>
            </a:r>
            <a:r>
              <a:rPr lang="en" sz="1300">
                <a:solidFill>
                  <a:srgbClr val="344E41"/>
                </a:solidFill>
                <a:latin typeface="Raleway"/>
                <a:ea typeface="Raleway"/>
                <a:cs typeface="Raleway"/>
                <a:sym typeface="Raleway"/>
              </a:rPr>
              <a:t> the ‘Owner_Type’ since there was only 4 types of values</a:t>
            </a:r>
            <a:endParaRPr sz="1300"/>
          </a:p>
        </p:txBody>
      </p:sp>
      <p:sp>
        <p:nvSpPr>
          <p:cNvPr id="228" name="Google Shape;228;p34"/>
          <p:cNvSpPr txBox="1"/>
          <p:nvPr/>
        </p:nvSpPr>
        <p:spPr>
          <a:xfrm>
            <a:off x="231050" y="3224250"/>
            <a:ext cx="3562800" cy="13545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 sz="1600">
                <a:solidFill>
                  <a:srgbClr val="344E41"/>
                </a:solidFill>
                <a:latin typeface="Raleway"/>
                <a:ea typeface="Raleway"/>
                <a:cs typeface="Raleway"/>
                <a:sym typeface="Raleway"/>
              </a:rPr>
              <a:t>Before splitting the data, I </a:t>
            </a:r>
            <a:r>
              <a:rPr lang="en" sz="1600">
                <a:solidFill>
                  <a:srgbClr val="344E41"/>
                </a:solidFill>
                <a:latin typeface="Raleway"/>
                <a:ea typeface="Raleway"/>
                <a:cs typeface="Raleway"/>
                <a:sym typeface="Raleway"/>
              </a:rPr>
              <a:t>separated</a:t>
            </a:r>
            <a:r>
              <a:rPr lang="en" sz="1600">
                <a:solidFill>
                  <a:srgbClr val="344E41"/>
                </a:solidFill>
                <a:latin typeface="Raleway"/>
                <a:ea typeface="Raleway"/>
                <a:cs typeface="Raleway"/>
                <a:sym typeface="Raleway"/>
              </a:rPr>
              <a:t> the features into numeric and categorical features for conversion and scaling.</a:t>
            </a:r>
            <a:endParaRPr/>
          </a:p>
        </p:txBody>
      </p:sp>
      <p:pic>
        <p:nvPicPr>
          <p:cNvPr id="229" name="Google Shape;229;p34"/>
          <p:cNvPicPr preferRelativeResize="0"/>
          <p:nvPr/>
        </p:nvPicPr>
        <p:blipFill rotWithShape="1">
          <a:blip r:embed="rId3">
            <a:alphaModFix/>
          </a:blip>
          <a:srcRect b="0" l="0" r="55998" t="0"/>
          <a:stretch/>
        </p:blipFill>
        <p:spPr>
          <a:xfrm>
            <a:off x="339275" y="753425"/>
            <a:ext cx="3347801" cy="2420425"/>
          </a:xfrm>
          <a:prstGeom prst="rect">
            <a:avLst/>
          </a:prstGeom>
          <a:noFill/>
          <a:ln>
            <a:noFill/>
          </a:ln>
        </p:spPr>
      </p:pic>
      <p:pic>
        <p:nvPicPr>
          <p:cNvPr id="230" name="Google Shape;230;p34"/>
          <p:cNvPicPr preferRelativeResize="0"/>
          <p:nvPr/>
        </p:nvPicPr>
        <p:blipFill rotWithShape="1">
          <a:blip r:embed="rId4">
            <a:alphaModFix/>
          </a:blip>
          <a:srcRect b="67215" l="0" r="0" t="0"/>
          <a:stretch/>
        </p:blipFill>
        <p:spPr>
          <a:xfrm>
            <a:off x="3731950" y="753425"/>
            <a:ext cx="3697800" cy="738574"/>
          </a:xfrm>
          <a:prstGeom prst="rect">
            <a:avLst/>
          </a:prstGeom>
          <a:noFill/>
          <a:ln>
            <a:noFill/>
          </a:ln>
        </p:spPr>
      </p:pic>
      <p:pic>
        <p:nvPicPr>
          <p:cNvPr id="231" name="Google Shape;231;p34"/>
          <p:cNvPicPr preferRelativeResize="0"/>
          <p:nvPr/>
        </p:nvPicPr>
        <p:blipFill>
          <a:blip r:embed="rId5">
            <a:alphaModFix/>
          </a:blip>
          <a:stretch>
            <a:fillRect/>
          </a:stretch>
        </p:blipFill>
        <p:spPr>
          <a:xfrm>
            <a:off x="3731950" y="2473138"/>
            <a:ext cx="4840800" cy="1301140"/>
          </a:xfrm>
          <a:prstGeom prst="rect">
            <a:avLst/>
          </a:prstGeom>
          <a:noFill/>
          <a:ln>
            <a:noFill/>
          </a:ln>
        </p:spPr>
      </p:pic>
      <p:pic>
        <p:nvPicPr>
          <p:cNvPr id="232" name="Google Shape;232;p34"/>
          <p:cNvPicPr preferRelativeResize="0"/>
          <p:nvPr/>
        </p:nvPicPr>
        <p:blipFill rotWithShape="1">
          <a:blip r:embed="rId4">
            <a:alphaModFix/>
          </a:blip>
          <a:srcRect b="0" l="0" r="0" t="50266"/>
          <a:stretch/>
        </p:blipFill>
        <p:spPr>
          <a:xfrm>
            <a:off x="5352650" y="1358966"/>
            <a:ext cx="3697800" cy="1120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D7CD"/>
        </a:solidFill>
      </p:bgPr>
    </p:bg>
    <p:spTree>
      <p:nvGrpSpPr>
        <p:cNvPr id="236" name="Shape 236"/>
        <p:cNvGrpSpPr/>
        <p:nvPr/>
      </p:nvGrpSpPr>
      <p:grpSpPr>
        <a:xfrm>
          <a:off x="0" y="0"/>
          <a:ext cx="0" cy="0"/>
          <a:chOff x="0" y="0"/>
          <a:chExt cx="0" cy="0"/>
        </a:xfrm>
      </p:grpSpPr>
      <p:sp>
        <p:nvSpPr>
          <p:cNvPr id="237" name="Google Shape;237;p35"/>
          <p:cNvSpPr/>
          <p:nvPr/>
        </p:nvSpPr>
        <p:spPr>
          <a:xfrm>
            <a:off x="0" y="4629150"/>
            <a:ext cx="9155740" cy="515010"/>
          </a:xfrm>
          <a:custGeom>
            <a:rect b="b" l="l" r="r" t="t"/>
            <a:pathLst>
              <a:path extrusionOk="0" h="695960" w="12372622">
                <a:moveTo>
                  <a:pt x="0" y="0"/>
                </a:moveTo>
                <a:lnTo>
                  <a:pt x="12372622" y="0"/>
                </a:lnTo>
                <a:lnTo>
                  <a:pt x="12372622" y="695960"/>
                </a:lnTo>
                <a:lnTo>
                  <a:pt x="0" y="695960"/>
                </a:lnTo>
                <a:close/>
              </a:path>
            </a:pathLst>
          </a:custGeom>
          <a:solidFill>
            <a:srgbClr val="A3B18A"/>
          </a:solidFill>
          <a:ln>
            <a:noFill/>
          </a:ln>
        </p:spPr>
      </p:sp>
      <p:sp>
        <p:nvSpPr>
          <p:cNvPr id="238" name="Google Shape;238;p35"/>
          <p:cNvSpPr txBox="1"/>
          <p:nvPr/>
        </p:nvSpPr>
        <p:spPr>
          <a:xfrm>
            <a:off x="7045968" y="4755429"/>
            <a:ext cx="1583700" cy="18480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lang="en" sz="1200">
                <a:solidFill>
                  <a:srgbClr val="344E41"/>
                </a:solidFill>
                <a:latin typeface="Raleway"/>
                <a:ea typeface="Raleway"/>
                <a:cs typeface="Raleway"/>
                <a:sym typeface="Raleway"/>
              </a:rPr>
              <a:t>11</a:t>
            </a:r>
            <a:endParaRPr sz="700"/>
          </a:p>
        </p:txBody>
      </p:sp>
      <p:sp>
        <p:nvSpPr>
          <p:cNvPr id="239" name="Google Shape;239;p35"/>
          <p:cNvSpPr txBox="1"/>
          <p:nvPr/>
        </p:nvSpPr>
        <p:spPr>
          <a:xfrm>
            <a:off x="1845475" y="313250"/>
            <a:ext cx="5464800" cy="400200"/>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None/>
            </a:pPr>
            <a:r>
              <a:rPr lang="en" sz="2600">
                <a:solidFill>
                  <a:srgbClr val="344E41"/>
                </a:solidFill>
                <a:latin typeface="Prata"/>
                <a:ea typeface="Prata"/>
                <a:cs typeface="Prata"/>
                <a:sym typeface="Prata"/>
              </a:rPr>
              <a:t>KNN (K-Nearest Neighbor)</a:t>
            </a:r>
            <a:endParaRPr sz="900"/>
          </a:p>
        </p:txBody>
      </p:sp>
      <p:sp>
        <p:nvSpPr>
          <p:cNvPr id="240" name="Google Shape;240;p35"/>
          <p:cNvSpPr txBox="1"/>
          <p:nvPr/>
        </p:nvSpPr>
        <p:spPr>
          <a:xfrm>
            <a:off x="4087500" y="3794163"/>
            <a:ext cx="4840800" cy="8004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 sz="1300">
                <a:solidFill>
                  <a:srgbClr val="344E41"/>
                </a:solidFill>
                <a:latin typeface="Raleway"/>
                <a:ea typeface="Raleway"/>
                <a:cs typeface="Raleway"/>
                <a:sym typeface="Raleway"/>
              </a:rPr>
              <a:t>As k becomes larger the r^2 begins to slowly go down. This means that the model will stop fitting data well as the iterations of k continue.</a:t>
            </a:r>
            <a:endParaRPr sz="1300"/>
          </a:p>
        </p:txBody>
      </p:sp>
      <p:sp>
        <p:nvSpPr>
          <p:cNvPr id="241" name="Google Shape;241;p35"/>
          <p:cNvSpPr txBox="1"/>
          <p:nvPr/>
        </p:nvSpPr>
        <p:spPr>
          <a:xfrm>
            <a:off x="231050" y="3224250"/>
            <a:ext cx="3562800" cy="13545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 sz="1600">
                <a:solidFill>
                  <a:srgbClr val="344E41"/>
                </a:solidFill>
                <a:latin typeface="Raleway"/>
                <a:ea typeface="Raleway"/>
                <a:cs typeface="Raleway"/>
                <a:sym typeface="Raleway"/>
              </a:rPr>
              <a:t>For this dataset, I’ll be using Standard Scaler for the model. KNN is a learning model used to show the RMSE and r^2 for each k. </a:t>
            </a:r>
            <a:endParaRPr/>
          </a:p>
        </p:txBody>
      </p:sp>
      <p:pic>
        <p:nvPicPr>
          <p:cNvPr id="242" name="Google Shape;242;p35"/>
          <p:cNvPicPr preferRelativeResize="0"/>
          <p:nvPr/>
        </p:nvPicPr>
        <p:blipFill>
          <a:blip r:embed="rId3">
            <a:alphaModFix/>
          </a:blip>
          <a:stretch>
            <a:fillRect/>
          </a:stretch>
        </p:blipFill>
        <p:spPr>
          <a:xfrm>
            <a:off x="231050" y="845963"/>
            <a:ext cx="4491550" cy="2245775"/>
          </a:xfrm>
          <a:prstGeom prst="rect">
            <a:avLst/>
          </a:prstGeom>
          <a:noFill/>
          <a:ln>
            <a:noFill/>
          </a:ln>
        </p:spPr>
      </p:pic>
      <p:pic>
        <p:nvPicPr>
          <p:cNvPr id="243" name="Google Shape;243;p35"/>
          <p:cNvPicPr preferRelativeResize="0"/>
          <p:nvPr/>
        </p:nvPicPr>
        <p:blipFill>
          <a:blip r:embed="rId4">
            <a:alphaModFix/>
          </a:blip>
          <a:stretch>
            <a:fillRect/>
          </a:stretch>
        </p:blipFill>
        <p:spPr>
          <a:xfrm>
            <a:off x="5199850" y="713451"/>
            <a:ext cx="3121649" cy="29310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D7CD"/>
        </a:solidFill>
      </p:bgPr>
    </p:bg>
    <p:spTree>
      <p:nvGrpSpPr>
        <p:cNvPr id="247" name="Shape 247"/>
        <p:cNvGrpSpPr/>
        <p:nvPr/>
      </p:nvGrpSpPr>
      <p:grpSpPr>
        <a:xfrm>
          <a:off x="0" y="0"/>
          <a:ext cx="0" cy="0"/>
          <a:chOff x="0" y="0"/>
          <a:chExt cx="0" cy="0"/>
        </a:xfrm>
      </p:grpSpPr>
      <p:sp>
        <p:nvSpPr>
          <p:cNvPr id="248" name="Google Shape;248;p36"/>
          <p:cNvSpPr/>
          <p:nvPr/>
        </p:nvSpPr>
        <p:spPr>
          <a:xfrm>
            <a:off x="0" y="4629150"/>
            <a:ext cx="9155740" cy="515010"/>
          </a:xfrm>
          <a:custGeom>
            <a:rect b="b" l="l" r="r" t="t"/>
            <a:pathLst>
              <a:path extrusionOk="0" h="695960" w="12372622">
                <a:moveTo>
                  <a:pt x="0" y="0"/>
                </a:moveTo>
                <a:lnTo>
                  <a:pt x="12372622" y="0"/>
                </a:lnTo>
                <a:lnTo>
                  <a:pt x="12372622" y="695960"/>
                </a:lnTo>
                <a:lnTo>
                  <a:pt x="0" y="695960"/>
                </a:lnTo>
                <a:close/>
              </a:path>
            </a:pathLst>
          </a:custGeom>
          <a:solidFill>
            <a:srgbClr val="A3B18A"/>
          </a:solidFill>
          <a:ln>
            <a:noFill/>
          </a:ln>
        </p:spPr>
      </p:sp>
      <p:sp>
        <p:nvSpPr>
          <p:cNvPr id="249" name="Google Shape;249;p36"/>
          <p:cNvSpPr txBox="1"/>
          <p:nvPr/>
        </p:nvSpPr>
        <p:spPr>
          <a:xfrm>
            <a:off x="7045968" y="4755429"/>
            <a:ext cx="1583700" cy="18480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lang="en" sz="1200">
                <a:solidFill>
                  <a:srgbClr val="344E41"/>
                </a:solidFill>
                <a:latin typeface="Raleway"/>
                <a:ea typeface="Raleway"/>
                <a:cs typeface="Raleway"/>
                <a:sym typeface="Raleway"/>
              </a:rPr>
              <a:t>12</a:t>
            </a:r>
            <a:endParaRPr sz="700"/>
          </a:p>
        </p:txBody>
      </p:sp>
      <p:sp>
        <p:nvSpPr>
          <p:cNvPr id="250" name="Google Shape;250;p36"/>
          <p:cNvSpPr txBox="1"/>
          <p:nvPr/>
        </p:nvSpPr>
        <p:spPr>
          <a:xfrm>
            <a:off x="1845475" y="313250"/>
            <a:ext cx="5464800" cy="400200"/>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None/>
            </a:pPr>
            <a:r>
              <a:rPr lang="en" sz="2600">
                <a:solidFill>
                  <a:srgbClr val="344E41"/>
                </a:solidFill>
                <a:latin typeface="Prata"/>
                <a:ea typeface="Prata"/>
                <a:cs typeface="Prata"/>
                <a:sym typeface="Prata"/>
              </a:rPr>
              <a:t>Linear Regression</a:t>
            </a:r>
            <a:endParaRPr sz="900"/>
          </a:p>
        </p:txBody>
      </p:sp>
      <p:sp>
        <p:nvSpPr>
          <p:cNvPr id="251" name="Google Shape;251;p36"/>
          <p:cNvSpPr txBox="1"/>
          <p:nvPr/>
        </p:nvSpPr>
        <p:spPr>
          <a:xfrm>
            <a:off x="4096400" y="970950"/>
            <a:ext cx="4743300" cy="28323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 sz="1600">
                <a:solidFill>
                  <a:srgbClr val="344E41"/>
                </a:solidFill>
                <a:latin typeface="Raleway"/>
                <a:ea typeface="Raleway"/>
                <a:cs typeface="Raleway"/>
                <a:sym typeface="Raleway"/>
              </a:rPr>
              <a:t>Originally for the project, Logistic Regression was stated to be used in the project. However, Logistic regression is used for binary classification and not continuous numeric data like the </a:t>
            </a:r>
            <a:r>
              <a:rPr lang="en" sz="1600">
                <a:solidFill>
                  <a:srgbClr val="344E41"/>
                </a:solidFill>
                <a:latin typeface="Raleway"/>
                <a:ea typeface="Raleway"/>
                <a:cs typeface="Raleway"/>
                <a:sym typeface="Raleway"/>
              </a:rPr>
              <a:t>housing</a:t>
            </a:r>
            <a:r>
              <a:rPr lang="en" sz="1600">
                <a:solidFill>
                  <a:srgbClr val="344E41"/>
                </a:solidFill>
                <a:latin typeface="Raleway"/>
                <a:ea typeface="Raleway"/>
                <a:cs typeface="Raleway"/>
                <a:sym typeface="Raleway"/>
              </a:rPr>
              <a:t> predictions. I used Linear Regression instead to predict the data. After running the regression, the r^2 shows that the predicted data is very close to the actual dataset.</a:t>
            </a:r>
            <a:endParaRPr/>
          </a:p>
        </p:txBody>
      </p:sp>
      <p:pic>
        <p:nvPicPr>
          <p:cNvPr id="252" name="Google Shape;252;p36"/>
          <p:cNvPicPr preferRelativeResize="0"/>
          <p:nvPr/>
        </p:nvPicPr>
        <p:blipFill>
          <a:blip r:embed="rId3">
            <a:alphaModFix/>
          </a:blip>
          <a:stretch>
            <a:fillRect/>
          </a:stretch>
        </p:blipFill>
        <p:spPr>
          <a:xfrm>
            <a:off x="152400" y="945925"/>
            <a:ext cx="3743945" cy="277591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D7CD"/>
        </a:solidFill>
      </p:bgPr>
    </p:bg>
    <p:spTree>
      <p:nvGrpSpPr>
        <p:cNvPr id="256" name="Shape 256"/>
        <p:cNvGrpSpPr/>
        <p:nvPr/>
      </p:nvGrpSpPr>
      <p:grpSpPr>
        <a:xfrm>
          <a:off x="0" y="0"/>
          <a:ext cx="0" cy="0"/>
          <a:chOff x="0" y="0"/>
          <a:chExt cx="0" cy="0"/>
        </a:xfrm>
      </p:grpSpPr>
      <p:sp>
        <p:nvSpPr>
          <p:cNvPr id="257" name="Google Shape;257;p37"/>
          <p:cNvSpPr/>
          <p:nvPr/>
        </p:nvSpPr>
        <p:spPr>
          <a:xfrm>
            <a:off x="0" y="4629150"/>
            <a:ext cx="9155740" cy="515010"/>
          </a:xfrm>
          <a:custGeom>
            <a:rect b="b" l="l" r="r" t="t"/>
            <a:pathLst>
              <a:path extrusionOk="0" h="695960" w="12372622">
                <a:moveTo>
                  <a:pt x="0" y="0"/>
                </a:moveTo>
                <a:lnTo>
                  <a:pt x="12372622" y="0"/>
                </a:lnTo>
                <a:lnTo>
                  <a:pt x="12372622" y="695960"/>
                </a:lnTo>
                <a:lnTo>
                  <a:pt x="0" y="695960"/>
                </a:lnTo>
                <a:close/>
              </a:path>
            </a:pathLst>
          </a:custGeom>
          <a:solidFill>
            <a:srgbClr val="A3B18A"/>
          </a:solidFill>
          <a:ln>
            <a:noFill/>
          </a:ln>
        </p:spPr>
      </p:sp>
      <p:sp>
        <p:nvSpPr>
          <p:cNvPr id="258" name="Google Shape;258;p37"/>
          <p:cNvSpPr txBox="1"/>
          <p:nvPr/>
        </p:nvSpPr>
        <p:spPr>
          <a:xfrm>
            <a:off x="7045968" y="4755429"/>
            <a:ext cx="1583700" cy="18480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lang="en" sz="1200">
                <a:solidFill>
                  <a:srgbClr val="344E41"/>
                </a:solidFill>
                <a:latin typeface="Raleway"/>
                <a:ea typeface="Raleway"/>
                <a:cs typeface="Raleway"/>
                <a:sym typeface="Raleway"/>
              </a:rPr>
              <a:t>1</a:t>
            </a:r>
            <a:r>
              <a:rPr b="0" i="0" lang="en" sz="1200" u="none" cap="none" strike="noStrike">
                <a:solidFill>
                  <a:srgbClr val="344E41"/>
                </a:solidFill>
                <a:latin typeface="Raleway"/>
                <a:ea typeface="Raleway"/>
                <a:cs typeface="Raleway"/>
                <a:sym typeface="Raleway"/>
              </a:rPr>
              <a:t>3</a:t>
            </a:r>
            <a:endParaRPr sz="700"/>
          </a:p>
        </p:txBody>
      </p:sp>
      <p:sp>
        <p:nvSpPr>
          <p:cNvPr id="259" name="Google Shape;259;p37"/>
          <p:cNvSpPr txBox="1"/>
          <p:nvPr/>
        </p:nvSpPr>
        <p:spPr>
          <a:xfrm>
            <a:off x="1845475" y="313250"/>
            <a:ext cx="5464800" cy="400200"/>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None/>
            </a:pPr>
            <a:r>
              <a:rPr lang="en" sz="2600">
                <a:solidFill>
                  <a:srgbClr val="344E41"/>
                </a:solidFill>
                <a:latin typeface="Prata"/>
                <a:ea typeface="Prata"/>
                <a:cs typeface="Prata"/>
                <a:sym typeface="Prata"/>
              </a:rPr>
              <a:t>Random Forest Regressor</a:t>
            </a:r>
            <a:endParaRPr sz="900"/>
          </a:p>
        </p:txBody>
      </p:sp>
      <p:sp>
        <p:nvSpPr>
          <p:cNvPr id="260" name="Google Shape;260;p37"/>
          <p:cNvSpPr txBox="1"/>
          <p:nvPr/>
        </p:nvSpPr>
        <p:spPr>
          <a:xfrm>
            <a:off x="135900" y="3220763"/>
            <a:ext cx="8872200" cy="14007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 sz="1300">
                <a:solidFill>
                  <a:srgbClr val="344E41"/>
                </a:solidFill>
                <a:latin typeface="Raleway"/>
                <a:ea typeface="Raleway"/>
                <a:cs typeface="Raleway"/>
                <a:sym typeface="Raleway"/>
              </a:rPr>
              <a:t>Random Forest Regressor uses decision trees to predict the ‘Flat_Price’ which would be considered a non-linear approach to modeling using 100 decision trees. The r^2 model fit is also very close to the Linear Regression. From looking at the feature importance chart, it shows what features were most important in the contribution in the model prediction. The most important features were ‘Total_Sq.ft’ and ‘Price_per_sq.ft’ while location has a small percentage of contributing to the prediction.</a:t>
            </a:r>
            <a:endParaRPr sz="1100"/>
          </a:p>
        </p:txBody>
      </p:sp>
      <p:pic>
        <p:nvPicPr>
          <p:cNvPr id="261" name="Google Shape;261;p37"/>
          <p:cNvPicPr preferRelativeResize="0"/>
          <p:nvPr/>
        </p:nvPicPr>
        <p:blipFill>
          <a:blip r:embed="rId3">
            <a:alphaModFix/>
          </a:blip>
          <a:stretch>
            <a:fillRect/>
          </a:stretch>
        </p:blipFill>
        <p:spPr>
          <a:xfrm>
            <a:off x="241375" y="856950"/>
            <a:ext cx="3791599" cy="2363819"/>
          </a:xfrm>
          <a:prstGeom prst="rect">
            <a:avLst/>
          </a:prstGeom>
          <a:noFill/>
          <a:ln>
            <a:noFill/>
          </a:ln>
        </p:spPr>
      </p:pic>
      <p:pic>
        <p:nvPicPr>
          <p:cNvPr id="262" name="Google Shape;262;p37"/>
          <p:cNvPicPr preferRelativeResize="0"/>
          <p:nvPr/>
        </p:nvPicPr>
        <p:blipFill>
          <a:blip r:embed="rId4">
            <a:alphaModFix/>
          </a:blip>
          <a:stretch>
            <a:fillRect/>
          </a:stretch>
        </p:blipFill>
        <p:spPr>
          <a:xfrm>
            <a:off x="4131974" y="865850"/>
            <a:ext cx="4546229" cy="23460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D7CD"/>
        </a:solidFill>
      </p:bgPr>
    </p:bg>
    <p:spTree>
      <p:nvGrpSpPr>
        <p:cNvPr id="266" name="Shape 266"/>
        <p:cNvGrpSpPr/>
        <p:nvPr/>
      </p:nvGrpSpPr>
      <p:grpSpPr>
        <a:xfrm>
          <a:off x="0" y="0"/>
          <a:ext cx="0" cy="0"/>
          <a:chOff x="0" y="0"/>
          <a:chExt cx="0" cy="0"/>
        </a:xfrm>
      </p:grpSpPr>
      <p:sp>
        <p:nvSpPr>
          <p:cNvPr id="267" name="Google Shape;267;p38"/>
          <p:cNvSpPr/>
          <p:nvPr/>
        </p:nvSpPr>
        <p:spPr>
          <a:xfrm>
            <a:off x="0" y="4629150"/>
            <a:ext cx="9155740" cy="515010"/>
          </a:xfrm>
          <a:custGeom>
            <a:rect b="b" l="l" r="r" t="t"/>
            <a:pathLst>
              <a:path extrusionOk="0" h="695960" w="12372622">
                <a:moveTo>
                  <a:pt x="0" y="0"/>
                </a:moveTo>
                <a:lnTo>
                  <a:pt x="12372622" y="0"/>
                </a:lnTo>
                <a:lnTo>
                  <a:pt x="12372622" y="695960"/>
                </a:lnTo>
                <a:lnTo>
                  <a:pt x="0" y="695960"/>
                </a:lnTo>
                <a:close/>
              </a:path>
            </a:pathLst>
          </a:custGeom>
          <a:solidFill>
            <a:srgbClr val="A3B18A"/>
          </a:solidFill>
          <a:ln>
            <a:noFill/>
          </a:ln>
        </p:spPr>
      </p:sp>
      <p:sp>
        <p:nvSpPr>
          <p:cNvPr id="268" name="Google Shape;268;p38"/>
          <p:cNvSpPr txBox="1"/>
          <p:nvPr/>
        </p:nvSpPr>
        <p:spPr>
          <a:xfrm>
            <a:off x="7045968" y="4755429"/>
            <a:ext cx="1583700" cy="18480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lang="en" sz="1200">
                <a:solidFill>
                  <a:srgbClr val="344E41"/>
                </a:solidFill>
                <a:latin typeface="Raleway"/>
                <a:ea typeface="Raleway"/>
                <a:cs typeface="Raleway"/>
                <a:sym typeface="Raleway"/>
              </a:rPr>
              <a:t>15</a:t>
            </a:r>
            <a:endParaRPr sz="700"/>
          </a:p>
        </p:txBody>
      </p:sp>
      <p:sp>
        <p:nvSpPr>
          <p:cNvPr id="269" name="Google Shape;269;p38"/>
          <p:cNvSpPr txBox="1"/>
          <p:nvPr/>
        </p:nvSpPr>
        <p:spPr>
          <a:xfrm>
            <a:off x="1845475" y="313250"/>
            <a:ext cx="5464800" cy="400200"/>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None/>
            </a:pPr>
            <a:r>
              <a:rPr lang="en" sz="2600">
                <a:solidFill>
                  <a:srgbClr val="344E41"/>
                </a:solidFill>
                <a:latin typeface="Prata"/>
                <a:ea typeface="Prata"/>
                <a:cs typeface="Prata"/>
                <a:sym typeface="Prata"/>
              </a:rPr>
              <a:t>XGBoost Regressor</a:t>
            </a:r>
            <a:endParaRPr sz="900"/>
          </a:p>
        </p:txBody>
      </p:sp>
      <p:sp>
        <p:nvSpPr>
          <p:cNvPr id="270" name="Google Shape;270;p38"/>
          <p:cNvSpPr txBox="1"/>
          <p:nvPr/>
        </p:nvSpPr>
        <p:spPr>
          <a:xfrm>
            <a:off x="135900" y="3220763"/>
            <a:ext cx="8872200" cy="14007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 sz="1300">
                <a:solidFill>
                  <a:srgbClr val="344E41"/>
                </a:solidFill>
                <a:latin typeface="Raleway"/>
                <a:ea typeface="Raleway"/>
                <a:cs typeface="Raleway"/>
                <a:sym typeface="Raleway"/>
              </a:rPr>
              <a:t>Extreme Gradient Boosting regression is a version of gradient descent that builds from weaker trees that adds another tree to correct the previous mistakes. In this model I used 50 trees with the max depth of 5 levels to see a more accurate prediction. The results of the model shows that the r^2 means it fitted to 0.9973~ and the RMSE was only 0.0510~ which is makes it also very close to the real data as well. The feature importance in XGBoost is basically the same as the Random Forest Regressor.</a:t>
            </a:r>
            <a:endParaRPr sz="1100"/>
          </a:p>
        </p:txBody>
      </p:sp>
      <p:pic>
        <p:nvPicPr>
          <p:cNvPr id="271" name="Google Shape;271;p38"/>
          <p:cNvPicPr preferRelativeResize="0"/>
          <p:nvPr/>
        </p:nvPicPr>
        <p:blipFill>
          <a:blip r:embed="rId3">
            <a:alphaModFix/>
          </a:blip>
          <a:stretch>
            <a:fillRect/>
          </a:stretch>
        </p:blipFill>
        <p:spPr>
          <a:xfrm>
            <a:off x="5024125" y="865850"/>
            <a:ext cx="3983976" cy="2202526"/>
          </a:xfrm>
          <a:prstGeom prst="rect">
            <a:avLst/>
          </a:prstGeom>
          <a:noFill/>
          <a:ln>
            <a:noFill/>
          </a:ln>
        </p:spPr>
      </p:pic>
      <p:pic>
        <p:nvPicPr>
          <p:cNvPr id="272" name="Google Shape;272;p38"/>
          <p:cNvPicPr preferRelativeResize="0"/>
          <p:nvPr/>
        </p:nvPicPr>
        <p:blipFill>
          <a:blip r:embed="rId4">
            <a:alphaModFix/>
          </a:blip>
          <a:stretch>
            <a:fillRect/>
          </a:stretch>
        </p:blipFill>
        <p:spPr>
          <a:xfrm>
            <a:off x="75800" y="970262"/>
            <a:ext cx="4898424" cy="1993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D7CD"/>
        </a:solidFill>
      </p:bgPr>
    </p:bg>
    <p:spTree>
      <p:nvGrpSpPr>
        <p:cNvPr id="276" name="Shape 276"/>
        <p:cNvGrpSpPr/>
        <p:nvPr/>
      </p:nvGrpSpPr>
      <p:grpSpPr>
        <a:xfrm>
          <a:off x="0" y="0"/>
          <a:ext cx="0" cy="0"/>
          <a:chOff x="0" y="0"/>
          <a:chExt cx="0" cy="0"/>
        </a:xfrm>
      </p:grpSpPr>
      <p:sp>
        <p:nvSpPr>
          <p:cNvPr id="277" name="Google Shape;277;p39"/>
          <p:cNvSpPr/>
          <p:nvPr/>
        </p:nvSpPr>
        <p:spPr>
          <a:xfrm>
            <a:off x="0" y="4629150"/>
            <a:ext cx="9155740" cy="515010"/>
          </a:xfrm>
          <a:custGeom>
            <a:rect b="b" l="l" r="r" t="t"/>
            <a:pathLst>
              <a:path extrusionOk="0" h="695960" w="12372622">
                <a:moveTo>
                  <a:pt x="0" y="0"/>
                </a:moveTo>
                <a:lnTo>
                  <a:pt x="12372622" y="0"/>
                </a:lnTo>
                <a:lnTo>
                  <a:pt x="12372622" y="695960"/>
                </a:lnTo>
                <a:lnTo>
                  <a:pt x="0" y="695960"/>
                </a:lnTo>
                <a:close/>
              </a:path>
            </a:pathLst>
          </a:custGeom>
          <a:solidFill>
            <a:srgbClr val="A3B18A"/>
          </a:solidFill>
          <a:ln>
            <a:noFill/>
          </a:ln>
        </p:spPr>
      </p:sp>
      <p:sp>
        <p:nvSpPr>
          <p:cNvPr id="278" name="Google Shape;278;p39"/>
          <p:cNvSpPr txBox="1"/>
          <p:nvPr/>
        </p:nvSpPr>
        <p:spPr>
          <a:xfrm>
            <a:off x="7045968" y="4755429"/>
            <a:ext cx="1583700" cy="18480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lang="en" sz="1200">
                <a:solidFill>
                  <a:srgbClr val="344E41"/>
                </a:solidFill>
                <a:latin typeface="Raleway"/>
                <a:ea typeface="Raleway"/>
                <a:cs typeface="Raleway"/>
                <a:sym typeface="Raleway"/>
              </a:rPr>
              <a:t>16</a:t>
            </a:r>
            <a:endParaRPr sz="700"/>
          </a:p>
        </p:txBody>
      </p:sp>
      <p:sp>
        <p:nvSpPr>
          <p:cNvPr id="279" name="Google Shape;279;p39"/>
          <p:cNvSpPr txBox="1"/>
          <p:nvPr/>
        </p:nvSpPr>
        <p:spPr>
          <a:xfrm>
            <a:off x="1049775" y="285625"/>
            <a:ext cx="7002900" cy="400200"/>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None/>
            </a:pPr>
            <a:r>
              <a:rPr lang="en" sz="2600">
                <a:solidFill>
                  <a:srgbClr val="344E41"/>
                </a:solidFill>
                <a:latin typeface="Prata"/>
                <a:ea typeface="Prata"/>
                <a:cs typeface="Prata"/>
                <a:sym typeface="Prata"/>
              </a:rPr>
              <a:t>Another version of the Feature </a:t>
            </a:r>
            <a:r>
              <a:rPr lang="en" sz="2600">
                <a:solidFill>
                  <a:srgbClr val="344E41"/>
                </a:solidFill>
                <a:latin typeface="Prata"/>
                <a:ea typeface="Prata"/>
                <a:cs typeface="Prata"/>
                <a:sym typeface="Prata"/>
              </a:rPr>
              <a:t>Importance</a:t>
            </a:r>
            <a:endParaRPr sz="900"/>
          </a:p>
        </p:txBody>
      </p:sp>
      <p:pic>
        <p:nvPicPr>
          <p:cNvPr id="280" name="Google Shape;280;p39"/>
          <p:cNvPicPr preferRelativeResize="0"/>
          <p:nvPr/>
        </p:nvPicPr>
        <p:blipFill>
          <a:blip r:embed="rId3">
            <a:alphaModFix/>
          </a:blip>
          <a:stretch>
            <a:fillRect/>
          </a:stretch>
        </p:blipFill>
        <p:spPr>
          <a:xfrm>
            <a:off x="472775" y="990425"/>
            <a:ext cx="8156899" cy="333411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D7CD"/>
        </a:solidFill>
      </p:bgPr>
    </p:bg>
    <p:spTree>
      <p:nvGrpSpPr>
        <p:cNvPr id="284" name="Shape 284"/>
        <p:cNvGrpSpPr/>
        <p:nvPr/>
      </p:nvGrpSpPr>
      <p:grpSpPr>
        <a:xfrm>
          <a:off x="0" y="0"/>
          <a:ext cx="0" cy="0"/>
          <a:chOff x="0" y="0"/>
          <a:chExt cx="0" cy="0"/>
        </a:xfrm>
      </p:grpSpPr>
      <p:sp>
        <p:nvSpPr>
          <p:cNvPr id="285" name="Google Shape;285;p40"/>
          <p:cNvSpPr/>
          <p:nvPr/>
        </p:nvSpPr>
        <p:spPr>
          <a:xfrm>
            <a:off x="0" y="4629150"/>
            <a:ext cx="9155740" cy="515010"/>
          </a:xfrm>
          <a:custGeom>
            <a:rect b="b" l="l" r="r" t="t"/>
            <a:pathLst>
              <a:path extrusionOk="0" h="695960" w="12372622">
                <a:moveTo>
                  <a:pt x="0" y="0"/>
                </a:moveTo>
                <a:lnTo>
                  <a:pt x="12372622" y="0"/>
                </a:lnTo>
                <a:lnTo>
                  <a:pt x="12372622" y="695960"/>
                </a:lnTo>
                <a:lnTo>
                  <a:pt x="0" y="695960"/>
                </a:lnTo>
                <a:close/>
              </a:path>
            </a:pathLst>
          </a:custGeom>
          <a:solidFill>
            <a:srgbClr val="A3B18A"/>
          </a:solidFill>
          <a:ln>
            <a:noFill/>
          </a:ln>
        </p:spPr>
      </p:sp>
      <p:sp>
        <p:nvSpPr>
          <p:cNvPr id="286" name="Google Shape;286;p40"/>
          <p:cNvSpPr txBox="1"/>
          <p:nvPr/>
        </p:nvSpPr>
        <p:spPr>
          <a:xfrm>
            <a:off x="7045968" y="4755429"/>
            <a:ext cx="1583700" cy="18480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lang="en" sz="1200">
                <a:solidFill>
                  <a:srgbClr val="344E41"/>
                </a:solidFill>
                <a:latin typeface="Raleway"/>
                <a:ea typeface="Raleway"/>
                <a:cs typeface="Raleway"/>
                <a:sym typeface="Raleway"/>
              </a:rPr>
              <a:t>17</a:t>
            </a:r>
            <a:endParaRPr sz="700"/>
          </a:p>
        </p:txBody>
      </p:sp>
      <p:sp>
        <p:nvSpPr>
          <p:cNvPr id="287" name="Google Shape;287;p40"/>
          <p:cNvSpPr txBox="1"/>
          <p:nvPr/>
        </p:nvSpPr>
        <p:spPr>
          <a:xfrm>
            <a:off x="394050" y="188650"/>
            <a:ext cx="8355900" cy="960300"/>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None/>
            </a:pPr>
            <a:r>
              <a:rPr lang="en" sz="2600">
                <a:solidFill>
                  <a:srgbClr val="344E41"/>
                </a:solidFill>
                <a:latin typeface="Prata"/>
                <a:ea typeface="Prata"/>
                <a:cs typeface="Prata"/>
                <a:sym typeface="Prata"/>
              </a:rPr>
              <a:t>What would happen if I left ‘EMI_Starts’ in the Training? </a:t>
            </a:r>
            <a:endParaRPr sz="900"/>
          </a:p>
        </p:txBody>
      </p:sp>
      <p:sp>
        <p:nvSpPr>
          <p:cNvPr id="288" name="Google Shape;288;p40"/>
          <p:cNvSpPr txBox="1"/>
          <p:nvPr/>
        </p:nvSpPr>
        <p:spPr>
          <a:xfrm>
            <a:off x="4452350" y="1148950"/>
            <a:ext cx="4351500" cy="2601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 sz="1300">
                <a:solidFill>
                  <a:srgbClr val="344E41"/>
                </a:solidFill>
                <a:latin typeface="Raleway"/>
                <a:ea typeface="Raleway"/>
                <a:cs typeface="Raleway"/>
                <a:sym typeface="Raleway"/>
              </a:rPr>
              <a:t>When I had originally tested the models for its features importance. I </a:t>
            </a:r>
            <a:r>
              <a:rPr lang="en" sz="1300">
                <a:solidFill>
                  <a:srgbClr val="344E41"/>
                </a:solidFill>
                <a:latin typeface="Raleway"/>
                <a:ea typeface="Raleway"/>
                <a:cs typeface="Raleway"/>
                <a:sym typeface="Raleway"/>
              </a:rPr>
              <a:t>found</a:t>
            </a:r>
            <a:r>
              <a:rPr lang="en" sz="1300">
                <a:solidFill>
                  <a:srgbClr val="344E41"/>
                </a:solidFill>
                <a:latin typeface="Raleway"/>
                <a:ea typeface="Raleway"/>
                <a:cs typeface="Raleway"/>
                <a:sym typeface="Raleway"/>
              </a:rPr>
              <a:t> that the models were solely relying on ‘EMI_Starts’ to predict the data over the rest of the features. EMI stands for the equated monthly instalments which outlines the amount of money that is consistently paid for the house loan each month. Which meant that the models were using the monthly payments as a way to base off the monetary value of the housing instead of considering the other features of the house.</a:t>
            </a:r>
            <a:endParaRPr sz="1100"/>
          </a:p>
        </p:txBody>
      </p:sp>
      <p:pic>
        <p:nvPicPr>
          <p:cNvPr id="289" name="Google Shape;289;p40" title="Feature_Importance_Error.png"/>
          <p:cNvPicPr preferRelativeResize="0"/>
          <p:nvPr/>
        </p:nvPicPr>
        <p:blipFill>
          <a:blip r:embed="rId3">
            <a:alphaModFix/>
          </a:blip>
          <a:stretch>
            <a:fillRect/>
          </a:stretch>
        </p:blipFill>
        <p:spPr>
          <a:xfrm>
            <a:off x="105450" y="1082675"/>
            <a:ext cx="4188126" cy="2161224"/>
          </a:xfrm>
          <a:prstGeom prst="rect">
            <a:avLst/>
          </a:prstGeom>
          <a:noFill/>
          <a:ln>
            <a:noFill/>
          </a:ln>
        </p:spPr>
      </p:pic>
      <p:pic>
        <p:nvPicPr>
          <p:cNvPr id="290" name="Google Shape;290;p40"/>
          <p:cNvPicPr preferRelativeResize="0"/>
          <p:nvPr/>
        </p:nvPicPr>
        <p:blipFill>
          <a:blip r:embed="rId4">
            <a:alphaModFix/>
          </a:blip>
          <a:stretch>
            <a:fillRect/>
          </a:stretch>
        </p:blipFill>
        <p:spPr>
          <a:xfrm>
            <a:off x="580474" y="3243900"/>
            <a:ext cx="3238100" cy="13706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D7CD"/>
        </a:solidFill>
      </p:bgPr>
    </p:bg>
    <p:spTree>
      <p:nvGrpSpPr>
        <p:cNvPr id="294" name="Shape 294"/>
        <p:cNvGrpSpPr/>
        <p:nvPr/>
      </p:nvGrpSpPr>
      <p:grpSpPr>
        <a:xfrm>
          <a:off x="0" y="0"/>
          <a:ext cx="0" cy="0"/>
          <a:chOff x="0" y="0"/>
          <a:chExt cx="0" cy="0"/>
        </a:xfrm>
      </p:grpSpPr>
      <p:sp>
        <p:nvSpPr>
          <p:cNvPr id="295" name="Google Shape;295;p41"/>
          <p:cNvSpPr/>
          <p:nvPr/>
        </p:nvSpPr>
        <p:spPr>
          <a:xfrm>
            <a:off x="0" y="4629150"/>
            <a:ext cx="9155740" cy="515010"/>
          </a:xfrm>
          <a:custGeom>
            <a:rect b="b" l="l" r="r" t="t"/>
            <a:pathLst>
              <a:path extrusionOk="0" h="695960" w="12372622">
                <a:moveTo>
                  <a:pt x="0" y="0"/>
                </a:moveTo>
                <a:lnTo>
                  <a:pt x="12372622" y="0"/>
                </a:lnTo>
                <a:lnTo>
                  <a:pt x="12372622" y="695960"/>
                </a:lnTo>
                <a:lnTo>
                  <a:pt x="0" y="695960"/>
                </a:lnTo>
                <a:close/>
              </a:path>
            </a:pathLst>
          </a:custGeom>
          <a:solidFill>
            <a:srgbClr val="A3B18A"/>
          </a:solidFill>
          <a:ln>
            <a:noFill/>
          </a:ln>
        </p:spPr>
      </p:sp>
      <p:sp>
        <p:nvSpPr>
          <p:cNvPr id="296" name="Google Shape;296;p41"/>
          <p:cNvSpPr txBox="1"/>
          <p:nvPr/>
        </p:nvSpPr>
        <p:spPr>
          <a:xfrm>
            <a:off x="7045968" y="4755429"/>
            <a:ext cx="1583700" cy="18480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lang="en" sz="1200">
                <a:solidFill>
                  <a:srgbClr val="344E41"/>
                </a:solidFill>
                <a:latin typeface="Raleway"/>
                <a:ea typeface="Raleway"/>
                <a:cs typeface="Raleway"/>
                <a:sym typeface="Raleway"/>
              </a:rPr>
              <a:t>18</a:t>
            </a:r>
            <a:endParaRPr sz="700"/>
          </a:p>
        </p:txBody>
      </p:sp>
      <p:sp>
        <p:nvSpPr>
          <p:cNvPr id="297" name="Google Shape;297;p41"/>
          <p:cNvSpPr txBox="1"/>
          <p:nvPr/>
        </p:nvSpPr>
        <p:spPr>
          <a:xfrm>
            <a:off x="394050" y="188650"/>
            <a:ext cx="8355900" cy="400200"/>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None/>
            </a:pPr>
            <a:r>
              <a:rPr lang="en" sz="2600">
                <a:solidFill>
                  <a:srgbClr val="344E41"/>
                </a:solidFill>
                <a:latin typeface="Prata"/>
                <a:ea typeface="Prata"/>
                <a:cs typeface="Prata"/>
                <a:sym typeface="Prata"/>
              </a:rPr>
              <a:t>Neural Network Training</a:t>
            </a:r>
            <a:r>
              <a:rPr lang="en" sz="2600">
                <a:solidFill>
                  <a:srgbClr val="344E41"/>
                </a:solidFill>
                <a:latin typeface="Prata"/>
                <a:ea typeface="Prata"/>
                <a:cs typeface="Prata"/>
                <a:sym typeface="Prata"/>
              </a:rPr>
              <a:t> </a:t>
            </a:r>
            <a:endParaRPr sz="900"/>
          </a:p>
        </p:txBody>
      </p:sp>
      <p:sp>
        <p:nvSpPr>
          <p:cNvPr id="298" name="Google Shape;298;p41"/>
          <p:cNvSpPr txBox="1"/>
          <p:nvPr/>
        </p:nvSpPr>
        <p:spPr>
          <a:xfrm>
            <a:off x="4487925" y="687850"/>
            <a:ext cx="4351500" cy="2301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 sz="1300">
                <a:solidFill>
                  <a:srgbClr val="344E41"/>
                </a:solidFill>
                <a:latin typeface="Raleway"/>
                <a:ea typeface="Raleway"/>
                <a:cs typeface="Raleway"/>
                <a:sym typeface="Raleway"/>
              </a:rPr>
              <a:t>For the Neural Network training, I started by converting the x and y </a:t>
            </a:r>
            <a:r>
              <a:rPr lang="en" sz="1300">
                <a:solidFill>
                  <a:srgbClr val="344E41"/>
                </a:solidFill>
                <a:latin typeface="Raleway"/>
                <a:ea typeface="Raleway"/>
                <a:cs typeface="Raleway"/>
                <a:sym typeface="Raleway"/>
              </a:rPr>
              <a:t>values of train into tensor to create arrays for the network then created the layers that takes 9 of the feature inputs and 2 outputs values. Using those 2 values, the second layer give the prediction. The forward function applies the first layer onto X_train values to transform it then uses ReLU and another layer to convert it to the final prediction.</a:t>
            </a:r>
            <a:endParaRPr sz="1100"/>
          </a:p>
        </p:txBody>
      </p:sp>
      <p:pic>
        <p:nvPicPr>
          <p:cNvPr id="299" name="Google Shape;299;p41"/>
          <p:cNvPicPr preferRelativeResize="0"/>
          <p:nvPr/>
        </p:nvPicPr>
        <p:blipFill>
          <a:blip r:embed="rId3">
            <a:alphaModFix/>
          </a:blip>
          <a:stretch>
            <a:fillRect/>
          </a:stretch>
        </p:blipFill>
        <p:spPr>
          <a:xfrm>
            <a:off x="162700" y="643350"/>
            <a:ext cx="4093875" cy="376456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D7CD"/>
        </a:solidFill>
      </p:bgPr>
    </p:bg>
    <p:spTree>
      <p:nvGrpSpPr>
        <p:cNvPr id="303" name="Shape 303"/>
        <p:cNvGrpSpPr/>
        <p:nvPr/>
      </p:nvGrpSpPr>
      <p:grpSpPr>
        <a:xfrm>
          <a:off x="0" y="0"/>
          <a:ext cx="0" cy="0"/>
          <a:chOff x="0" y="0"/>
          <a:chExt cx="0" cy="0"/>
        </a:xfrm>
      </p:grpSpPr>
      <p:sp>
        <p:nvSpPr>
          <p:cNvPr id="304" name="Google Shape;304;p42"/>
          <p:cNvSpPr/>
          <p:nvPr/>
        </p:nvSpPr>
        <p:spPr>
          <a:xfrm>
            <a:off x="0" y="4629150"/>
            <a:ext cx="9155740" cy="515010"/>
          </a:xfrm>
          <a:custGeom>
            <a:rect b="b" l="l" r="r" t="t"/>
            <a:pathLst>
              <a:path extrusionOk="0" h="695960" w="12372622">
                <a:moveTo>
                  <a:pt x="0" y="0"/>
                </a:moveTo>
                <a:lnTo>
                  <a:pt x="12372622" y="0"/>
                </a:lnTo>
                <a:lnTo>
                  <a:pt x="12372622" y="695960"/>
                </a:lnTo>
                <a:lnTo>
                  <a:pt x="0" y="695960"/>
                </a:lnTo>
                <a:close/>
              </a:path>
            </a:pathLst>
          </a:custGeom>
          <a:solidFill>
            <a:srgbClr val="A3B18A"/>
          </a:solidFill>
          <a:ln>
            <a:noFill/>
          </a:ln>
        </p:spPr>
      </p:sp>
      <p:sp>
        <p:nvSpPr>
          <p:cNvPr id="305" name="Google Shape;305;p42"/>
          <p:cNvSpPr txBox="1"/>
          <p:nvPr/>
        </p:nvSpPr>
        <p:spPr>
          <a:xfrm>
            <a:off x="7045968" y="4755429"/>
            <a:ext cx="1583700" cy="18480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lang="en" sz="1200">
                <a:solidFill>
                  <a:srgbClr val="344E41"/>
                </a:solidFill>
                <a:latin typeface="Raleway"/>
                <a:ea typeface="Raleway"/>
                <a:cs typeface="Raleway"/>
                <a:sym typeface="Raleway"/>
              </a:rPr>
              <a:t>19</a:t>
            </a:r>
            <a:endParaRPr sz="700"/>
          </a:p>
        </p:txBody>
      </p:sp>
      <p:sp>
        <p:nvSpPr>
          <p:cNvPr id="306" name="Google Shape;306;p42"/>
          <p:cNvSpPr txBox="1"/>
          <p:nvPr/>
        </p:nvSpPr>
        <p:spPr>
          <a:xfrm>
            <a:off x="394050" y="188650"/>
            <a:ext cx="8355900" cy="400200"/>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None/>
            </a:pPr>
            <a:r>
              <a:rPr lang="en" sz="2600">
                <a:solidFill>
                  <a:srgbClr val="344E41"/>
                </a:solidFill>
                <a:latin typeface="Prata"/>
                <a:ea typeface="Prata"/>
                <a:cs typeface="Prata"/>
                <a:sym typeface="Prata"/>
              </a:rPr>
              <a:t>Neural Network Training cont. </a:t>
            </a:r>
            <a:endParaRPr sz="900"/>
          </a:p>
        </p:txBody>
      </p:sp>
      <p:sp>
        <p:nvSpPr>
          <p:cNvPr id="307" name="Google Shape;307;p42"/>
          <p:cNvSpPr txBox="1"/>
          <p:nvPr/>
        </p:nvSpPr>
        <p:spPr>
          <a:xfrm>
            <a:off x="6187500" y="701426"/>
            <a:ext cx="2956500" cy="3501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 sz="1300">
                <a:solidFill>
                  <a:srgbClr val="344E41"/>
                </a:solidFill>
                <a:latin typeface="Raleway"/>
                <a:ea typeface="Raleway"/>
                <a:cs typeface="Raleway"/>
                <a:sym typeface="Raleway"/>
              </a:rPr>
              <a:t>The </a:t>
            </a:r>
            <a:r>
              <a:rPr lang="en" sz="1300">
                <a:solidFill>
                  <a:srgbClr val="344E41"/>
                </a:solidFill>
                <a:latin typeface="Raleway"/>
                <a:ea typeface="Raleway"/>
                <a:cs typeface="Raleway"/>
                <a:sym typeface="Raleway"/>
              </a:rPr>
              <a:t>epochs</a:t>
            </a:r>
            <a:r>
              <a:rPr lang="en" sz="1300">
                <a:solidFill>
                  <a:srgbClr val="344E41"/>
                </a:solidFill>
                <a:latin typeface="Raleway"/>
                <a:ea typeface="Raleway"/>
                <a:cs typeface="Raleway"/>
                <a:sym typeface="Raleway"/>
              </a:rPr>
              <a:t> is used in the function to repeat and update the weights to random values to improve its accuracy. From looking at the amount epochs used to get the loss to a very low value, this would show that the y hat and y are too far apart if the epochs stop drastically decreasing the loss by epoch 199</a:t>
            </a:r>
            <a:r>
              <a:rPr lang="en" sz="1300">
                <a:solidFill>
                  <a:srgbClr val="344E41"/>
                </a:solidFill>
                <a:latin typeface="Raleway"/>
                <a:ea typeface="Raleway"/>
                <a:cs typeface="Raleway"/>
                <a:sym typeface="Raleway"/>
              </a:rPr>
              <a:t>. This model is rather less fitting to the dataset compared to the others since it also has a r^2 value of 0.844~.</a:t>
            </a:r>
            <a:endParaRPr sz="1100"/>
          </a:p>
        </p:txBody>
      </p:sp>
      <p:pic>
        <p:nvPicPr>
          <p:cNvPr id="308" name="Google Shape;308;p42"/>
          <p:cNvPicPr preferRelativeResize="0"/>
          <p:nvPr/>
        </p:nvPicPr>
        <p:blipFill>
          <a:blip r:embed="rId3">
            <a:alphaModFix/>
          </a:blip>
          <a:stretch>
            <a:fillRect/>
          </a:stretch>
        </p:blipFill>
        <p:spPr>
          <a:xfrm>
            <a:off x="182150" y="588850"/>
            <a:ext cx="3513824" cy="2372076"/>
          </a:xfrm>
          <a:prstGeom prst="rect">
            <a:avLst/>
          </a:prstGeom>
          <a:noFill/>
          <a:ln>
            <a:noFill/>
          </a:ln>
        </p:spPr>
      </p:pic>
      <p:pic>
        <p:nvPicPr>
          <p:cNvPr id="309" name="Google Shape;309;p42"/>
          <p:cNvPicPr preferRelativeResize="0"/>
          <p:nvPr/>
        </p:nvPicPr>
        <p:blipFill>
          <a:blip r:embed="rId4">
            <a:alphaModFix/>
          </a:blip>
          <a:stretch>
            <a:fillRect/>
          </a:stretch>
        </p:blipFill>
        <p:spPr>
          <a:xfrm>
            <a:off x="3691899" y="701425"/>
            <a:ext cx="2407950" cy="3815150"/>
          </a:xfrm>
          <a:prstGeom prst="rect">
            <a:avLst/>
          </a:prstGeom>
          <a:noFill/>
          <a:ln>
            <a:noFill/>
          </a:ln>
        </p:spPr>
      </p:pic>
      <p:pic>
        <p:nvPicPr>
          <p:cNvPr id="310" name="Google Shape;310;p42"/>
          <p:cNvPicPr preferRelativeResize="0"/>
          <p:nvPr/>
        </p:nvPicPr>
        <p:blipFill>
          <a:blip r:embed="rId5">
            <a:alphaModFix/>
          </a:blip>
          <a:stretch>
            <a:fillRect/>
          </a:stretch>
        </p:blipFill>
        <p:spPr>
          <a:xfrm>
            <a:off x="178075" y="2954725"/>
            <a:ext cx="3513824" cy="16744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D7CD"/>
        </a:solidFill>
      </p:bgPr>
    </p:bg>
    <p:spTree>
      <p:nvGrpSpPr>
        <p:cNvPr id="314" name="Shape 314"/>
        <p:cNvGrpSpPr/>
        <p:nvPr/>
      </p:nvGrpSpPr>
      <p:grpSpPr>
        <a:xfrm>
          <a:off x="0" y="0"/>
          <a:ext cx="0" cy="0"/>
          <a:chOff x="0" y="0"/>
          <a:chExt cx="0" cy="0"/>
        </a:xfrm>
      </p:grpSpPr>
      <p:sp>
        <p:nvSpPr>
          <p:cNvPr id="315" name="Google Shape;315;p43"/>
          <p:cNvSpPr/>
          <p:nvPr/>
        </p:nvSpPr>
        <p:spPr>
          <a:xfrm>
            <a:off x="0" y="4629150"/>
            <a:ext cx="9144000" cy="514350"/>
          </a:xfrm>
          <a:custGeom>
            <a:rect b="b" l="l" r="r" t="t"/>
            <a:pathLst>
              <a:path extrusionOk="0" h="695960" w="12372622">
                <a:moveTo>
                  <a:pt x="0" y="0"/>
                </a:moveTo>
                <a:lnTo>
                  <a:pt x="12372622" y="0"/>
                </a:lnTo>
                <a:lnTo>
                  <a:pt x="12372622" y="695960"/>
                </a:lnTo>
                <a:lnTo>
                  <a:pt x="0" y="695960"/>
                </a:lnTo>
                <a:close/>
              </a:path>
            </a:pathLst>
          </a:custGeom>
          <a:solidFill>
            <a:srgbClr val="A3B18A"/>
          </a:solidFill>
          <a:ln>
            <a:noFill/>
          </a:ln>
        </p:spPr>
      </p:sp>
      <p:sp>
        <p:nvSpPr>
          <p:cNvPr id="316" name="Google Shape;316;p43"/>
          <p:cNvSpPr/>
          <p:nvPr/>
        </p:nvSpPr>
        <p:spPr>
          <a:xfrm>
            <a:off x="0" y="0"/>
            <a:ext cx="4572000" cy="4629150"/>
          </a:xfrm>
          <a:custGeom>
            <a:rect b="b" l="l" r="r" t="t"/>
            <a:pathLst>
              <a:path extrusionOk="0" h="9258300" w="9144000">
                <a:moveTo>
                  <a:pt x="0" y="0"/>
                </a:moveTo>
                <a:lnTo>
                  <a:pt x="9144000" y="0"/>
                </a:lnTo>
                <a:lnTo>
                  <a:pt x="9144000" y="9258300"/>
                </a:lnTo>
                <a:lnTo>
                  <a:pt x="0" y="9258300"/>
                </a:lnTo>
                <a:lnTo>
                  <a:pt x="0" y="0"/>
                </a:lnTo>
                <a:close/>
              </a:path>
            </a:pathLst>
          </a:custGeom>
          <a:blipFill rotWithShape="1">
            <a:blip r:embed="rId3">
              <a:alphaModFix/>
            </a:blip>
            <a:stretch>
              <a:fillRect b="0" l="0" r="0" t="-48240"/>
            </a:stretch>
          </a:blipFill>
          <a:ln>
            <a:noFill/>
          </a:ln>
        </p:spPr>
      </p:sp>
      <p:sp>
        <p:nvSpPr>
          <p:cNvPr id="317" name="Google Shape;317;p43"/>
          <p:cNvSpPr txBox="1"/>
          <p:nvPr/>
        </p:nvSpPr>
        <p:spPr>
          <a:xfrm>
            <a:off x="7045968" y="4755429"/>
            <a:ext cx="1583700" cy="18480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lang="en" sz="1200">
                <a:solidFill>
                  <a:srgbClr val="344E41"/>
                </a:solidFill>
                <a:latin typeface="Raleway"/>
                <a:ea typeface="Raleway"/>
                <a:cs typeface="Raleway"/>
                <a:sym typeface="Raleway"/>
              </a:rPr>
              <a:t>20</a:t>
            </a:r>
            <a:endParaRPr sz="700"/>
          </a:p>
        </p:txBody>
      </p:sp>
      <p:sp>
        <p:nvSpPr>
          <p:cNvPr id="318" name="Google Shape;318;p43"/>
          <p:cNvSpPr txBox="1"/>
          <p:nvPr/>
        </p:nvSpPr>
        <p:spPr>
          <a:xfrm>
            <a:off x="5169685" y="466725"/>
            <a:ext cx="34599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None/>
            </a:pPr>
            <a:r>
              <a:rPr lang="en" sz="2400">
                <a:solidFill>
                  <a:srgbClr val="344E41"/>
                </a:solidFill>
                <a:latin typeface="Prata"/>
                <a:ea typeface="Prata"/>
                <a:cs typeface="Prata"/>
                <a:sym typeface="Prata"/>
              </a:rPr>
              <a:t>Summary</a:t>
            </a:r>
            <a:endParaRPr sz="700"/>
          </a:p>
        </p:txBody>
      </p:sp>
      <p:sp>
        <p:nvSpPr>
          <p:cNvPr id="319" name="Google Shape;319;p43"/>
          <p:cNvSpPr txBox="1"/>
          <p:nvPr/>
        </p:nvSpPr>
        <p:spPr>
          <a:xfrm>
            <a:off x="4852949" y="1317373"/>
            <a:ext cx="3776700" cy="22527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1" lang="en" sz="1200">
                <a:solidFill>
                  <a:srgbClr val="344E41"/>
                </a:solidFill>
                <a:latin typeface="Raleway"/>
                <a:ea typeface="Raleway"/>
                <a:cs typeface="Raleway"/>
                <a:sym typeface="Raleway"/>
              </a:rPr>
              <a:t>After testing all the models (KNN, Linear Regression, Random Forest, XGBoost, and Neural Network), the best performing model based on low RMSE and high r^2 is Linear Regression and Random Forest Regressor for the Housing Prediction Dataset. Overall, the project helped predict the ‘Flat_Prices’ for Kolkata houses which had to be cleaned </a:t>
            </a:r>
            <a:r>
              <a:rPr b="1" lang="en" sz="1200">
                <a:solidFill>
                  <a:srgbClr val="344E41"/>
                </a:solidFill>
                <a:latin typeface="Raleway"/>
                <a:ea typeface="Raleway"/>
                <a:cs typeface="Raleway"/>
                <a:sym typeface="Raleway"/>
              </a:rPr>
              <a:t>thoroughly</a:t>
            </a:r>
            <a:r>
              <a:rPr b="1" lang="en" sz="1200">
                <a:solidFill>
                  <a:srgbClr val="344E41"/>
                </a:solidFill>
                <a:latin typeface="Raleway"/>
                <a:ea typeface="Raleway"/>
                <a:cs typeface="Raleway"/>
                <a:sym typeface="Raleway"/>
              </a:rPr>
              <a:t> before training the data on the sets.</a:t>
            </a:r>
            <a:endParaRPr sz="700"/>
          </a:p>
        </p:txBody>
      </p:sp>
      <p:pic>
        <p:nvPicPr>
          <p:cNvPr descr="Building exteriors (Provided by Getty Images)" id="320" name="Google Shape;320;p43"/>
          <p:cNvPicPr preferRelativeResize="0"/>
          <p:nvPr/>
        </p:nvPicPr>
        <p:blipFill rotWithShape="1">
          <a:blip r:embed="rId4">
            <a:alphaModFix/>
          </a:blip>
          <a:srcRect b="0" l="33400" r="0" t="0"/>
          <a:stretch/>
        </p:blipFill>
        <p:spPr>
          <a:xfrm>
            <a:off x="2" y="0"/>
            <a:ext cx="4572001" cy="46291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D7CD"/>
        </a:solidFill>
      </p:bgPr>
    </p:bg>
    <p:spTree>
      <p:nvGrpSpPr>
        <p:cNvPr id="324" name="Shape 324"/>
        <p:cNvGrpSpPr/>
        <p:nvPr/>
      </p:nvGrpSpPr>
      <p:grpSpPr>
        <a:xfrm>
          <a:off x="0" y="0"/>
          <a:ext cx="0" cy="0"/>
          <a:chOff x="0" y="0"/>
          <a:chExt cx="0" cy="0"/>
        </a:xfrm>
      </p:grpSpPr>
      <p:sp>
        <p:nvSpPr>
          <p:cNvPr id="325" name="Google Shape;325;p44"/>
          <p:cNvSpPr txBox="1"/>
          <p:nvPr/>
        </p:nvSpPr>
        <p:spPr>
          <a:xfrm>
            <a:off x="1388277" y="1832185"/>
            <a:ext cx="6367446" cy="148304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 sz="5700" u="none" cap="none" strike="noStrike">
                <a:solidFill>
                  <a:srgbClr val="344E41"/>
                </a:solidFill>
                <a:latin typeface="Prata"/>
                <a:ea typeface="Prata"/>
                <a:cs typeface="Prata"/>
                <a:sym typeface="Prata"/>
              </a:rPr>
              <a:t>THANK YOU FOR LISTENING</a:t>
            </a:r>
            <a:endParaRPr sz="700"/>
          </a:p>
        </p:txBody>
      </p:sp>
      <p:sp>
        <p:nvSpPr>
          <p:cNvPr id="326" name="Google Shape;326;p44"/>
          <p:cNvSpPr/>
          <p:nvPr/>
        </p:nvSpPr>
        <p:spPr>
          <a:xfrm>
            <a:off x="0" y="4629150"/>
            <a:ext cx="9144000" cy="514350"/>
          </a:xfrm>
          <a:custGeom>
            <a:rect b="b" l="l" r="r" t="t"/>
            <a:pathLst>
              <a:path extrusionOk="0" h="695960" w="12372622">
                <a:moveTo>
                  <a:pt x="0" y="0"/>
                </a:moveTo>
                <a:lnTo>
                  <a:pt x="12372622" y="0"/>
                </a:lnTo>
                <a:lnTo>
                  <a:pt x="12372622" y="695960"/>
                </a:lnTo>
                <a:lnTo>
                  <a:pt x="0" y="695960"/>
                </a:lnTo>
                <a:close/>
              </a:path>
            </a:pathLst>
          </a:custGeom>
          <a:solidFill>
            <a:srgbClr val="A3B18A"/>
          </a:solidFill>
          <a:ln>
            <a:noFill/>
          </a:ln>
        </p:spPr>
      </p:sp>
      <p:sp>
        <p:nvSpPr>
          <p:cNvPr id="327" name="Google Shape;327;p44"/>
          <p:cNvSpPr txBox="1"/>
          <p:nvPr/>
        </p:nvSpPr>
        <p:spPr>
          <a:xfrm>
            <a:off x="1388277" y="1199970"/>
            <a:ext cx="6367446" cy="436563"/>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2500" u="none" cap="none" strike="noStrike">
                <a:solidFill>
                  <a:srgbClr val="344E41"/>
                </a:solidFill>
                <a:latin typeface="Raleway"/>
                <a:ea typeface="Raleway"/>
                <a:cs typeface="Raleway"/>
                <a:sym typeface="Raleway"/>
              </a:rPr>
              <a:t>THE END</a:t>
            </a:r>
            <a:endParaRPr sz="700"/>
          </a:p>
        </p:txBody>
      </p:sp>
      <p:sp>
        <p:nvSpPr>
          <p:cNvPr id="328" name="Google Shape;328;p44"/>
          <p:cNvSpPr txBox="1"/>
          <p:nvPr/>
        </p:nvSpPr>
        <p:spPr>
          <a:xfrm>
            <a:off x="3093555" y="4755429"/>
            <a:ext cx="2956800" cy="1848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lang="en" sz="1200">
                <a:solidFill>
                  <a:srgbClr val="344E41"/>
                </a:solidFill>
                <a:latin typeface="Raleway"/>
                <a:ea typeface="Raleway"/>
                <a:cs typeface="Raleway"/>
                <a:sym typeface="Raleway"/>
              </a:rPr>
              <a:t>Jennifer Tran</a:t>
            </a:r>
            <a:endParaRPr sz="700"/>
          </a:p>
        </p:txBody>
      </p:sp>
      <p:sp>
        <p:nvSpPr>
          <p:cNvPr id="329" name="Google Shape;329;p44"/>
          <p:cNvSpPr txBox="1"/>
          <p:nvPr/>
        </p:nvSpPr>
        <p:spPr>
          <a:xfrm>
            <a:off x="7045968" y="4755429"/>
            <a:ext cx="1583700" cy="10770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t/>
            </a:r>
            <a:endParaRPr sz="700"/>
          </a:p>
        </p:txBody>
      </p:sp>
      <p:sp>
        <p:nvSpPr>
          <p:cNvPr id="330" name="Google Shape;330;p44"/>
          <p:cNvSpPr txBox="1"/>
          <p:nvPr/>
        </p:nvSpPr>
        <p:spPr>
          <a:xfrm>
            <a:off x="514350" y="4755429"/>
            <a:ext cx="1478400" cy="1848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 sz="1200" u="none" cap="none" strike="noStrike">
                <a:solidFill>
                  <a:srgbClr val="344E41"/>
                </a:solidFill>
                <a:latin typeface="Raleway"/>
                <a:ea typeface="Raleway"/>
                <a:cs typeface="Raleway"/>
                <a:sym typeface="Raleway"/>
              </a:rPr>
              <a:t>2026 </a:t>
            </a:r>
            <a:r>
              <a:rPr lang="en" sz="1200">
                <a:solidFill>
                  <a:srgbClr val="344E41"/>
                </a:solidFill>
                <a:latin typeface="Raleway"/>
                <a:ea typeface="Raleway"/>
                <a:cs typeface="Raleway"/>
                <a:sym typeface="Raleway"/>
              </a:rPr>
              <a:t>May 6</a:t>
            </a:r>
            <a:endParaRPr sz="7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